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7" r:id="rId3"/>
  </p:sldMasterIdLst>
  <p:notesMasterIdLst>
    <p:notesMasterId r:id="rId33"/>
  </p:notesMasterIdLst>
  <p:sldIdLst>
    <p:sldId id="282" r:id="rId4"/>
    <p:sldId id="263" r:id="rId5"/>
    <p:sldId id="281" r:id="rId6"/>
    <p:sldId id="264" r:id="rId7"/>
    <p:sldId id="273" r:id="rId8"/>
    <p:sldId id="266" r:id="rId9"/>
    <p:sldId id="313" r:id="rId10"/>
    <p:sldId id="268" r:id="rId11"/>
    <p:sldId id="271" r:id="rId12"/>
    <p:sldId id="272" r:id="rId13"/>
    <p:sldId id="274" r:id="rId14"/>
    <p:sldId id="304" r:id="rId15"/>
    <p:sldId id="305" r:id="rId16"/>
    <p:sldId id="284" r:id="rId17"/>
    <p:sldId id="286" r:id="rId18"/>
    <p:sldId id="290" r:id="rId19"/>
    <p:sldId id="287" r:id="rId20"/>
    <p:sldId id="283" r:id="rId21"/>
    <p:sldId id="312" r:id="rId22"/>
    <p:sldId id="311" r:id="rId23"/>
    <p:sldId id="306" r:id="rId24"/>
    <p:sldId id="307" r:id="rId25"/>
    <p:sldId id="308" r:id="rId26"/>
    <p:sldId id="309" r:id="rId27"/>
    <p:sldId id="310" r:id="rId28"/>
    <p:sldId id="298" r:id="rId29"/>
    <p:sldId id="299" r:id="rId30"/>
    <p:sldId id="314" r:id="rId31"/>
    <p:sldId id="28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varScale="1">
        <p:scale>
          <a:sx n="82" d="100"/>
          <a:sy n="82" d="100"/>
        </p:scale>
        <p:origin x="557"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 /><Relationship Id="rId13" Type="http://schemas.openxmlformats.org/officeDocument/2006/relationships/slide" Target="slides/slide10.xml" /><Relationship Id="rId18" Type="http://schemas.openxmlformats.org/officeDocument/2006/relationships/slide" Target="slides/slide15.xml" /><Relationship Id="rId26" Type="http://schemas.openxmlformats.org/officeDocument/2006/relationships/slide" Target="slides/slide23.xml" /><Relationship Id="rId3" Type="http://schemas.openxmlformats.org/officeDocument/2006/relationships/slideMaster" Target="slideMasters/slideMaster1.xml" /><Relationship Id="rId21" Type="http://schemas.openxmlformats.org/officeDocument/2006/relationships/slide" Target="slides/slide18.xml" /><Relationship Id="rId34" Type="http://schemas.openxmlformats.org/officeDocument/2006/relationships/presProps" Target="presProps.xml" /><Relationship Id="rId7" Type="http://schemas.openxmlformats.org/officeDocument/2006/relationships/slide" Target="slides/slide4.xml" /><Relationship Id="rId12" Type="http://schemas.openxmlformats.org/officeDocument/2006/relationships/slide" Target="slides/slide9.xml" /><Relationship Id="rId17" Type="http://schemas.openxmlformats.org/officeDocument/2006/relationships/slide" Target="slides/slide14.xml" /><Relationship Id="rId25" Type="http://schemas.openxmlformats.org/officeDocument/2006/relationships/slide" Target="slides/slide22.xml" /><Relationship Id="rId33" Type="http://schemas.openxmlformats.org/officeDocument/2006/relationships/notesMaster" Target="notesMasters/notesMaster1.xml" /><Relationship Id="rId2" Type="http://schemas.openxmlformats.org/officeDocument/2006/relationships/customXml" Target="../customXml/item2.xml" /><Relationship Id="rId16" Type="http://schemas.openxmlformats.org/officeDocument/2006/relationships/slide" Target="slides/slide13.xml" /><Relationship Id="rId20" Type="http://schemas.openxmlformats.org/officeDocument/2006/relationships/slide" Target="slides/slide17.xml" /><Relationship Id="rId29" Type="http://schemas.openxmlformats.org/officeDocument/2006/relationships/slide" Target="slides/slide26.xml" /><Relationship Id="rId1" Type="http://schemas.openxmlformats.org/officeDocument/2006/relationships/customXml" Target="../customXml/item1.xml" /><Relationship Id="rId6" Type="http://schemas.openxmlformats.org/officeDocument/2006/relationships/slide" Target="slides/slide3.xml" /><Relationship Id="rId11" Type="http://schemas.openxmlformats.org/officeDocument/2006/relationships/slide" Target="slides/slide8.xml" /><Relationship Id="rId24" Type="http://schemas.openxmlformats.org/officeDocument/2006/relationships/slide" Target="slides/slide21.xml" /><Relationship Id="rId32" Type="http://schemas.openxmlformats.org/officeDocument/2006/relationships/slide" Target="slides/slide29.xml" /><Relationship Id="rId37" Type="http://schemas.openxmlformats.org/officeDocument/2006/relationships/tableStyles" Target="tableStyles.xml" /><Relationship Id="rId5" Type="http://schemas.openxmlformats.org/officeDocument/2006/relationships/slide" Target="slides/slide2.xml" /><Relationship Id="rId15" Type="http://schemas.openxmlformats.org/officeDocument/2006/relationships/slide" Target="slides/slide12.xml" /><Relationship Id="rId23" Type="http://schemas.openxmlformats.org/officeDocument/2006/relationships/slide" Target="slides/slide20.xml" /><Relationship Id="rId28" Type="http://schemas.openxmlformats.org/officeDocument/2006/relationships/slide" Target="slides/slide25.xml" /><Relationship Id="rId36" Type="http://schemas.openxmlformats.org/officeDocument/2006/relationships/theme" Target="theme/theme1.xml" /><Relationship Id="rId10" Type="http://schemas.openxmlformats.org/officeDocument/2006/relationships/slide" Target="slides/slide7.xml" /><Relationship Id="rId19" Type="http://schemas.openxmlformats.org/officeDocument/2006/relationships/slide" Target="slides/slide16.xml" /><Relationship Id="rId31" Type="http://schemas.openxmlformats.org/officeDocument/2006/relationships/slide" Target="slides/slide28.xml" /><Relationship Id="rId4" Type="http://schemas.openxmlformats.org/officeDocument/2006/relationships/slide" Target="slides/slide1.xml" /><Relationship Id="rId9" Type="http://schemas.openxmlformats.org/officeDocument/2006/relationships/slide" Target="slides/slide6.xml" /><Relationship Id="rId14" Type="http://schemas.openxmlformats.org/officeDocument/2006/relationships/slide" Target="slides/slide11.xml" /><Relationship Id="rId22" Type="http://schemas.openxmlformats.org/officeDocument/2006/relationships/slide" Target="slides/slide19.xml" /><Relationship Id="rId27" Type="http://schemas.openxmlformats.org/officeDocument/2006/relationships/slide" Target="slides/slide24.xml" /><Relationship Id="rId30" Type="http://schemas.openxmlformats.org/officeDocument/2006/relationships/slide" Target="slides/slide27.xml" /><Relationship Id="rId35" Type="http://schemas.openxmlformats.org/officeDocument/2006/relationships/viewProps" Target="viewProps.xml" /></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5T13:50:51.66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5T13:50:58.437"/>
    </inkml:context>
    <inkml:brush xml:id="br0">
      <inkml:brushProperty name="width" value="0.35" units="cm"/>
      <inkml:brushProperty name="height" value="0.35" units="cm"/>
      <inkml:brushProperty name="color" value="#FFFFFF"/>
    </inkml:brush>
  </inkml:definitions>
  <inkml:trace contextRef="#ctx0" brushRef="#br0">1179 1 24575,'340'0'0,"-336"0"0,0 0 0,0-1 0,-1 1 0,1 1 0,0-1 0,-1 1 0,1-1 0,-1 1 0,5 1 0,-8-1 0,0-1 0,0 0 0,0 0 0,0 0 0,0 0 0,0 1 0,0-1 0,0 0 0,0 0 0,0 0 0,1 0 0,-1 1 0,0-1 0,0 0 0,0 0 0,0 0 0,0 1 0,0-1 0,0 0 0,0 0 0,-1 0 0,1 0 0,0 1 0,0-1 0,0 0 0,0 0 0,0 0 0,0 0 0,0 1 0,0-1 0,0 0 0,0 0 0,-1 0 0,1 0 0,0 0 0,0 1 0,0-1 0,0 0 0,0 0 0,-1 0 0,1 0 0,0 0 0,0 0 0,0 0 0,0 0 0,-1 0 0,1 0 0,0 0 0,0 0 0,0 1 0,-1-1 0,1 0 0,0 0 0,0-1 0,0 1 0,-1 0 0,1 0 0,0 0 0,-15 5 0,-23 5 0,-212 46 0,194-46 0,0-3 0,-91-1 0,-583-9 0,468 4 0,1342-1 0,-1037-2 0,55-10 0,30-1 0,-303 12 0,-147 4 0,131 21 0,187-24 0,-1 0 0,1 1 0,-1-1 0,1 1 0,-1 0 0,1 0 0,-1 0 0,1 1 0,0-1 0,0 1 0,0 0 0,-5 4 0,7-4 0,-1 0 0,1 1 0,0-1 0,0 1 0,1 0 0,-1 0 0,0-1 0,1 1 0,0 0 0,0 0 0,0 1 0,0-1 0,0 0 0,1 0 0,-1 0 0,1 1 0,0 5 0,0 45 0,1-42 0,0 0 0,-1-1 0,0 1 0,-1 0 0,-1-1 0,1 1 0,-2-1 0,0 0 0,-4 12 0,-3-3-195,0 0 0,2 1 0,0 0 0,2 1 0,0-1 0,-4 39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7EC9A3-D18B-0997-7AAC-36C054849E0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EA25E41-5EC7-4B29-D2AC-54EEAF3388E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86592BF6-7596-4EC8-8F11-161B874BD066}" type="datetimeFigureOut">
              <a:rPr lang="en-US"/>
              <a:pPr>
                <a:defRPr/>
              </a:pPr>
              <a:t>6/6/2025</a:t>
            </a:fld>
            <a:endParaRPr lang="en-US" dirty="0"/>
          </a:p>
        </p:txBody>
      </p:sp>
      <p:sp>
        <p:nvSpPr>
          <p:cNvPr id="4" name="Slide Image Placeholder 3">
            <a:extLst>
              <a:ext uri="{FF2B5EF4-FFF2-40B4-BE49-F238E27FC236}">
                <a16:creationId xmlns:a16="http://schemas.microsoft.com/office/drawing/2014/main" id="{18D76895-8D38-AFB3-7D88-E7E23717203D}"/>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EA6597F0-441C-62A7-125F-FFEC7ED60E7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B36BAB2F-D8EB-F0F7-7DE9-799DB8D90B5B}"/>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C89F0FE9-25E6-538A-5003-5E9F64271D8E}"/>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9293CF68-9703-4125-AEE9-3CE196CA7AB9}" type="slidenum">
              <a:rPr lang="en-US" altLang="en-US"/>
              <a:pPr/>
              <a:t>‹#›</a:t>
            </a:fld>
            <a:endParaRPr lang="en-US" altLang="en-US"/>
          </a:p>
        </p:txBody>
      </p:sp>
    </p:spTree>
    <p:extLst>
      <p:ext uri="{BB962C8B-B14F-4D97-AF65-F5344CB8AC3E}">
        <p14:creationId xmlns:p14="http://schemas.microsoft.com/office/powerpoint/2010/main" val="35326564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3078B3A3-960E-4AB1-9A3B-DECB8E98F209}" type="datetime1">
              <a:rPr lang="en-US" smtClean="0"/>
              <a:pPr>
                <a:defRPr/>
              </a:pPr>
              <a:t>6/6/2025</a:t>
            </a:fld>
            <a:endParaRPr lang="en-US" dirty="0"/>
          </a:p>
        </p:txBody>
      </p:sp>
      <p:sp>
        <p:nvSpPr>
          <p:cNvPr id="5" name="Footer Placeholder 4"/>
          <p:cNvSpPr>
            <a:spLocks noGrp="1"/>
          </p:cNvSpPr>
          <p:nvPr>
            <p:ph type="ftr" sz="quarter" idx="11"/>
          </p:nvPr>
        </p:nvSpPr>
        <p:spPr>
          <a:xfrm>
            <a:off x="1127124" y="329307"/>
            <a:ext cx="5943668" cy="309201"/>
          </a:xfrm>
        </p:spPr>
        <p:txBody>
          <a:bodyPr/>
          <a:lstStyle/>
          <a:p>
            <a:pPr>
              <a:defRPr/>
            </a:pPr>
            <a:endParaRPr lang="en-US"/>
          </a:p>
        </p:txBody>
      </p:sp>
      <p:sp>
        <p:nvSpPr>
          <p:cNvPr id="6" name="Slide Number Placeholder 5"/>
          <p:cNvSpPr>
            <a:spLocks noGrp="1"/>
          </p:cNvSpPr>
          <p:nvPr>
            <p:ph type="sldNum" sz="quarter" idx="12"/>
          </p:nvPr>
        </p:nvSpPr>
        <p:spPr>
          <a:xfrm>
            <a:off x="9924392" y="134930"/>
            <a:ext cx="811019" cy="503578"/>
          </a:xfrm>
        </p:spPr>
        <p:txBody>
          <a:bodyPr/>
          <a:lstStyle/>
          <a:p>
            <a:fld id="{A8C37CDC-02EB-457C-B6D1-13E7E25D3E9D}" type="slidenum">
              <a:rPr lang="en-US" altLang="en-US" smtClean="0"/>
              <a:pPr/>
              <a:t>‹#›</a:t>
            </a:fld>
            <a:endParaRPr lang="en-US" alt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245364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pPr>
              <a:defRPr/>
            </a:pPr>
            <a:fld id="{E13F1730-AAFB-4DAD-B19E-459431F7F2EE}" type="datetime1">
              <a:rPr lang="en-US" smtClean="0"/>
              <a:pPr>
                <a:defRPr/>
              </a:pPr>
              <a:t>6/6/2025</a:t>
            </a:fld>
            <a:endParaRPr lang="en-US" dirty="0"/>
          </a:p>
        </p:txBody>
      </p:sp>
      <p:sp>
        <p:nvSpPr>
          <p:cNvPr id="5" name="Footer Placeholder 4"/>
          <p:cNvSpPr>
            <a:spLocks noGrp="1"/>
          </p:cNvSpPr>
          <p:nvPr>
            <p:ph type="ftr" sz="quarter" idx="11"/>
          </p:nvPr>
        </p:nvSpPr>
        <p:spPr/>
        <p:txBody>
          <a:bodyPr/>
          <a:lstStyle>
            <a:lvl1pPr>
              <a:defRPr sz="1200"/>
            </a:lvl1pPr>
          </a:lstStyle>
          <a:p>
            <a:pPr>
              <a:defRPr/>
            </a:pPr>
            <a:endParaRPr lang="en-US"/>
          </a:p>
        </p:txBody>
      </p:sp>
      <p:sp>
        <p:nvSpPr>
          <p:cNvPr id="6" name="Slide Number Placeholder 5"/>
          <p:cNvSpPr>
            <a:spLocks noGrp="1"/>
          </p:cNvSpPr>
          <p:nvPr>
            <p:ph type="sldNum" sz="quarter" idx="12"/>
          </p:nvPr>
        </p:nvSpPr>
        <p:spPr/>
        <p:txBody>
          <a:bodyPr/>
          <a:lstStyle/>
          <a:p>
            <a:fld id="{92B7C2A7-6430-41B1-AC30-AC3E504997D0}" type="slidenum">
              <a:rPr lang="en-US" altLang="en-US" smtClean="0"/>
              <a:pPr/>
              <a:t>‹#›</a:t>
            </a:fld>
            <a:endParaRPr lang="en-US" alt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005964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pPr>
              <a:defRPr/>
            </a:pPr>
            <a:fld id="{91860CEA-EB84-456A-A6EF-B864A89277B4}" type="datetime1">
              <a:rPr lang="en-US" smtClean="0"/>
              <a:pPr>
                <a:defRPr/>
              </a:pPr>
              <a:t>6/6/2025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F5B06346-DF9F-4AE2-8654-3812D5276D42}" type="slidenum">
              <a:rPr lang="en-US" altLang="en-US" smtClean="0"/>
              <a:pPr/>
              <a:t>‹#›</a:t>
            </a:fld>
            <a:endParaRPr lang="en-US" alt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982294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3F2ABF37-0559-4623-8D43-83E18ABCBD59}" type="datetime1">
              <a:rPr lang="en-US" smtClean="0"/>
              <a:pPr>
                <a:defRPr/>
              </a:pPr>
              <a:t>6/6/2025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0B1DB815-4711-4030-9F49-17CE910C64DD}" type="slidenum">
              <a:rPr lang="en-US" altLang="en-US" smtClean="0"/>
              <a:pPr/>
              <a:t>‹#›</a:t>
            </a:fld>
            <a:endParaRPr lang="en-US" alt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706884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6A81FA65-DB30-43B9-B411-1A157A3FC6E1}" type="datetime1">
              <a:rPr lang="en-US" smtClean="0"/>
              <a:pPr>
                <a:defRPr/>
              </a:pPr>
              <a:t>6/6/2025</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C6161C7C-ACD7-417E-91FE-BACC264937C7}" type="slidenum">
              <a:rPr lang="en-US" altLang="en-US" smtClean="0"/>
              <a:pPr/>
              <a:t>‹#›</a:t>
            </a:fld>
            <a:endParaRPr lang="en-US" alt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590016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80A39415-2728-4C99-B5D4-379939022901}" type="datetime1">
              <a:rPr lang="en-US" smtClean="0"/>
              <a:pPr>
                <a:defRPr/>
              </a:pPr>
              <a:t>6/6/2025</a:t>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887DB7F1-AF19-428A-9BA9-7D774BAA419C}" type="slidenum">
              <a:rPr lang="en-US" altLang="en-US" smtClean="0"/>
              <a:pPr/>
              <a:t>‹#›</a:t>
            </a:fld>
            <a:endParaRPr lang="en-US" alt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274078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9080A02-BD29-459D-AF20-E26463E6A7D3}" type="datetime1">
              <a:rPr lang="en-US" smtClean="0"/>
              <a:pPr>
                <a:defRPr/>
              </a:pPr>
              <a:t>6/6/2025</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9F6134AB-21E2-4D6B-AA33-87877FBCE870}" type="slidenum">
              <a:rPr lang="en-US" altLang="en-US" smtClean="0"/>
              <a:pPr/>
              <a:t>‹#›</a:t>
            </a:fld>
            <a:endParaRPr lang="en-US" altLang="en-US"/>
          </a:p>
        </p:txBody>
      </p:sp>
    </p:spTree>
    <p:extLst>
      <p:ext uri="{BB962C8B-B14F-4D97-AF65-F5344CB8AC3E}">
        <p14:creationId xmlns:p14="http://schemas.microsoft.com/office/powerpoint/2010/main" val="862618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6EAC167-8306-43EB-B3BD-DB60C271CE8E}" type="datetime1">
              <a:rPr lang="en-US" smtClean="0"/>
              <a:pPr>
                <a:defRPr/>
              </a:pPr>
              <a:t>6/6/2025</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9010DB3-BD0D-48EC-AF20-B64290535A2B}" type="slidenum">
              <a:rPr lang="en-US" altLang="en-US" smtClean="0"/>
              <a:pPr/>
              <a:t>‹#›</a:t>
            </a:fld>
            <a:endParaRPr lang="en-US" alt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432633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pPr>
              <a:defRPr/>
            </a:pPr>
            <a:fld id="{2F50DF95-4B16-4D6A-8C21-C3E9162F3E01}" type="datetime1">
              <a:rPr lang="en-US" smtClean="0"/>
              <a:pPr>
                <a:defRPr/>
              </a:pPr>
              <a:t>6/6/2025</a:t>
            </a:fld>
            <a:endParaRPr lang="en-US" dirty="0"/>
          </a:p>
        </p:txBody>
      </p:sp>
      <p:sp>
        <p:nvSpPr>
          <p:cNvPr id="6" name="Footer Placeholder 5"/>
          <p:cNvSpPr>
            <a:spLocks noGrp="1"/>
          </p:cNvSpPr>
          <p:nvPr>
            <p:ph type="ftr" sz="quarter" idx="11"/>
          </p:nvPr>
        </p:nvSpPr>
        <p:spPr>
          <a:xfrm>
            <a:off x="1125300" y="318640"/>
            <a:ext cx="4877818" cy="320931"/>
          </a:xfrm>
        </p:spPr>
        <p:txBody>
          <a:bodyPr/>
          <a:lstStyle/>
          <a:p>
            <a:pPr>
              <a:defRPr/>
            </a:pPr>
            <a:endParaRPr lang="en-US"/>
          </a:p>
        </p:txBody>
      </p:sp>
      <p:sp>
        <p:nvSpPr>
          <p:cNvPr id="7" name="Slide Number Placeholder 6"/>
          <p:cNvSpPr>
            <a:spLocks noGrp="1"/>
          </p:cNvSpPr>
          <p:nvPr>
            <p:ph type="sldNum" sz="quarter" idx="12"/>
          </p:nvPr>
        </p:nvSpPr>
        <p:spPr>
          <a:xfrm>
            <a:off x="6176794" y="137408"/>
            <a:ext cx="811019" cy="503578"/>
          </a:xfrm>
        </p:spPr>
        <p:txBody>
          <a:bodyPr/>
          <a:lstStyle/>
          <a:p>
            <a:fld id="{89EB60B2-3208-4938-B6C1-1E080BAB3B31}" type="slidenum">
              <a:rPr lang="en-US" altLang="en-US" smtClean="0"/>
              <a:pPr/>
              <a:t>‹#›</a:t>
            </a:fld>
            <a:endParaRPr lang="en-US" alt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3919339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BDA5456C-A370-441E-BAD1-374F843C5050}" type="datetime1">
              <a:rPr lang="en-US" smtClean="0"/>
              <a:pPr>
                <a:defRPr/>
              </a:pPr>
              <a:t>6/6/2025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2245EDED-83DA-4464-90D3-B98C6907D9EC}" type="slidenum">
              <a:rPr lang="en-US" altLang="en-US" smtClean="0"/>
              <a:pPr/>
              <a:t>‹#›</a:t>
            </a:fld>
            <a:endParaRPr lang="en-US" alt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556662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73799CF-69C8-43F9-A3E4-F7A3429C3A8E}" type="datetime1">
              <a:rPr lang="en-US" smtClean="0"/>
              <a:pPr>
                <a:defRPr/>
              </a:pPr>
              <a:t>6/6/2025</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BBF1B01-6FF7-43A0-B542-C696A580E3DC}" type="slidenum">
              <a:rPr lang="en-US" altLang="en-US" smtClean="0"/>
              <a:pPr/>
              <a:t>‹#›</a:t>
            </a:fld>
            <a:endParaRPr lang="en-US" alt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2775798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pPr>
              <a:defRPr/>
            </a:pPr>
            <a:fld id="{7B3E2730-AFE9-48EB-94DB-1BE21CDF12FF}" type="datetime1">
              <a:rPr lang="en-US" smtClean="0"/>
              <a:pPr>
                <a:defRPr/>
              </a:pPr>
              <a:t>6/6/2025</a:t>
            </a:fld>
            <a:endParaRPr lang="en-US" dirty="0"/>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4AF8760C-C214-4722-96BE-53A4F5B0417E}" type="slidenum">
              <a:rPr lang="en-US" altLang="en-US" smtClean="0"/>
              <a:pPr/>
              <a:t>‹#›</a:t>
            </a:fld>
            <a:endParaRPr lang="en-US" altLang="en-US"/>
          </a:p>
        </p:txBody>
      </p:sp>
    </p:spTree>
    <p:extLst>
      <p:ext uri="{BB962C8B-B14F-4D97-AF65-F5344CB8AC3E}">
        <p14:creationId xmlns:p14="http://schemas.microsoft.com/office/powerpoint/2010/main" val="3687807746"/>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hf sldNum="0" hdr="0" ftr="0" dt="0"/>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7" Type="http://schemas.openxmlformats.org/officeDocument/2006/relationships/image" Target="../media/image9.jpeg" /><Relationship Id="rId2" Type="http://schemas.openxmlformats.org/officeDocument/2006/relationships/customXml" Target="../ink/ink1.xml" /><Relationship Id="rId1" Type="http://schemas.openxmlformats.org/officeDocument/2006/relationships/slideLayout" Target="../slideLayouts/slideLayout7.xml" /><Relationship Id="rId6" Type="http://schemas.openxmlformats.org/officeDocument/2006/relationships/image" Target="../media/image11.png" /><Relationship Id="rId5" Type="http://schemas.openxmlformats.org/officeDocument/2006/relationships/customXml" Target="../ink/ink2.xml" /><Relationship Id="rId4" Type="http://schemas.openxmlformats.org/officeDocument/2006/relationships/image" Target="../media/image100.png"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6.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3" Type="http://schemas.openxmlformats.org/officeDocument/2006/relationships/hyperlink" Target="https://arxiv.org/pdf/2010.06425" TargetMode="External" /><Relationship Id="rId2" Type="http://schemas.openxmlformats.org/officeDocument/2006/relationships/hyperlink" Target="https://docs.streamlit.io/" TargetMode="Externa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6848AE-B65C-C344-450E-4A8EB9327B19}"/>
              </a:ext>
            </a:extLst>
          </p:cNvPr>
          <p:cNvSpPr txBox="1"/>
          <p:nvPr/>
        </p:nvSpPr>
        <p:spPr>
          <a:xfrm>
            <a:off x="3048000" y="1746250"/>
            <a:ext cx="6094413" cy="400050"/>
          </a:xfrm>
          <a:prstGeom prst="rect">
            <a:avLst/>
          </a:prstGeom>
          <a:noFill/>
        </p:spPr>
        <p:txBody>
          <a:bodyPr>
            <a:spAutoFit/>
          </a:bodyPr>
          <a:lstStyle/>
          <a:p>
            <a:pPr algn="ctr" fontAlgn="auto">
              <a:spcBef>
                <a:spcPts val="0"/>
              </a:spcBef>
              <a:spcAft>
                <a:spcPts val="0"/>
              </a:spcAft>
              <a:defRPr/>
            </a:pPr>
            <a:r>
              <a:rPr lang="en-IN" sz="2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Department of Computer Science &amp; Engineering</a:t>
            </a:r>
            <a:endParaRPr lang="en-IN" sz="2000" b="1" dirty="0">
              <a:ln w="0"/>
              <a:effectLst>
                <a:outerShdw blurRad="38100" dist="19050" dir="2700000" algn="tl" rotWithShape="0">
                  <a:schemeClr val="dk1">
                    <a:alpha val="40000"/>
                  </a:schemeClr>
                </a:outerShdw>
              </a:effectLst>
              <a:latin typeface="+mn-lt"/>
              <a:cs typeface="+mn-cs"/>
            </a:endParaRPr>
          </a:p>
        </p:txBody>
      </p:sp>
      <p:sp>
        <p:nvSpPr>
          <p:cNvPr id="5125" name="TextBox 6">
            <a:extLst>
              <a:ext uri="{FF2B5EF4-FFF2-40B4-BE49-F238E27FC236}">
                <a16:creationId xmlns:a16="http://schemas.microsoft.com/office/drawing/2014/main" id="{936AB718-15E9-43FC-98DE-9F8FFAE3B706}"/>
              </a:ext>
            </a:extLst>
          </p:cNvPr>
          <p:cNvSpPr txBox="1">
            <a:spLocks noChangeArrowheads="1"/>
          </p:cNvSpPr>
          <p:nvPr/>
        </p:nvSpPr>
        <p:spPr bwMode="auto">
          <a:xfrm>
            <a:off x="1581150" y="2344738"/>
            <a:ext cx="8267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IN" altLang="en-US" b="1" dirty="0">
                <a:latin typeface="Times New Roman" panose="02020603050405020304" pitchFamily="18" charset="0"/>
                <a:cs typeface="Times New Roman" panose="02020603050405020304" pitchFamily="18" charset="0"/>
              </a:rPr>
              <a:t>    A Mini Project  Presentation </a:t>
            </a:r>
          </a:p>
          <a:p>
            <a:pPr algn="ctr" eaLnBrk="1" hangingPunct="1"/>
            <a:r>
              <a:rPr lang="en-IN" altLang="en-US" b="1" dirty="0">
                <a:latin typeface="Times New Roman" panose="02020603050405020304" pitchFamily="18" charset="0"/>
                <a:cs typeface="Times New Roman" panose="02020603050405020304" pitchFamily="18" charset="0"/>
              </a:rPr>
              <a:t>          on</a:t>
            </a:r>
            <a:endParaRPr lang="en-IN" altLang="en-US"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126" name="TextBox 7">
            <a:extLst>
              <a:ext uri="{FF2B5EF4-FFF2-40B4-BE49-F238E27FC236}">
                <a16:creationId xmlns:a16="http://schemas.microsoft.com/office/drawing/2014/main" id="{1E213B23-54FB-6061-98D6-77C34E970B28}"/>
              </a:ext>
            </a:extLst>
          </p:cNvPr>
          <p:cNvSpPr txBox="1">
            <a:spLocks noChangeArrowheads="1"/>
          </p:cNvSpPr>
          <p:nvPr/>
        </p:nvSpPr>
        <p:spPr bwMode="auto">
          <a:xfrm>
            <a:off x="736454" y="2935252"/>
            <a:ext cx="10717503" cy="10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50000"/>
              </a:lnSpc>
            </a:pPr>
            <a:r>
              <a:rPr lang="en-US" sz="2400" b="1" dirty="0">
                <a:latin typeface="Times New Roman" panose="02020603050405020304" pitchFamily="18" charset="0"/>
                <a:ea typeface="Times New Roman" panose="02020603050405020304" pitchFamily="18" charset="0"/>
              </a:rPr>
              <a:t>EVENT RECOMMENDATION SYSTEM</a:t>
            </a:r>
          </a:p>
          <a:p>
            <a:pPr algn="ctr">
              <a:lnSpc>
                <a:spcPct val="150000"/>
              </a:lnSpc>
            </a:pPr>
            <a:endParaRPr lang="en-IN" altLang="en-US" sz="2000" dirty="0">
              <a:latin typeface="Calibri" panose="020F0502020204030204" pitchFamily="34" charset="0"/>
            </a:endParaRPr>
          </a:p>
        </p:txBody>
      </p:sp>
      <p:sp>
        <p:nvSpPr>
          <p:cNvPr id="10" name="TextBox 9">
            <a:extLst>
              <a:ext uri="{FF2B5EF4-FFF2-40B4-BE49-F238E27FC236}">
                <a16:creationId xmlns:a16="http://schemas.microsoft.com/office/drawing/2014/main" id="{BBCCD846-9CF4-F3B9-ABA3-980AF9E96B60}"/>
              </a:ext>
            </a:extLst>
          </p:cNvPr>
          <p:cNvSpPr txBox="1"/>
          <p:nvPr/>
        </p:nvSpPr>
        <p:spPr>
          <a:xfrm>
            <a:off x="736454" y="4902385"/>
            <a:ext cx="2749535" cy="1200329"/>
          </a:xfrm>
          <a:prstGeom prst="rect">
            <a:avLst/>
          </a:prstGeom>
          <a:noFill/>
        </p:spPr>
        <p:txBody>
          <a:bodyPr wrap="none">
            <a:spAutoFit/>
          </a:bodyPr>
          <a:lstStyle/>
          <a:p>
            <a:pPr fontAlgn="auto">
              <a:spcBef>
                <a:spcPts val="0"/>
              </a:spcBef>
              <a:spcAft>
                <a:spcPts val="0"/>
              </a:spcAft>
              <a:defRPr/>
            </a:pPr>
            <a:r>
              <a:rPr lang="en-IN" b="1" dirty="0">
                <a:latin typeface="Times New Roman" panose="02020603050405020304" pitchFamily="18" charset="0"/>
                <a:cs typeface="Times New Roman" panose="02020603050405020304" pitchFamily="18" charset="0"/>
              </a:rPr>
              <a:t>Internal Guide</a:t>
            </a:r>
          </a:p>
          <a:p>
            <a:pPr fontAlgn="auto">
              <a:spcBef>
                <a:spcPts val="0"/>
              </a:spcBef>
              <a:spcAft>
                <a:spcPts val="0"/>
              </a:spcAft>
              <a:defRPr/>
            </a:pPr>
            <a:r>
              <a:rPr lang="en-IN" b="1" spc="-5" dirty="0">
                <a:latin typeface="Times New Roman" panose="02020603050405020304" pitchFamily="18" charset="0"/>
                <a:cs typeface="Times New Roman" panose="02020603050405020304" pitchFamily="18" charset="0"/>
              </a:rPr>
              <a:t>Mr. D. Uma </a:t>
            </a:r>
            <a:r>
              <a:rPr lang="en-IN" b="1" spc="-5" dirty="0" err="1">
                <a:latin typeface="Times New Roman" panose="02020603050405020304" pitchFamily="18" charset="0"/>
                <a:cs typeface="Times New Roman" panose="02020603050405020304" pitchFamily="18" charset="0"/>
              </a:rPr>
              <a:t>Vishveshwar</a:t>
            </a:r>
            <a:r>
              <a:rPr lang="en-IN" b="1" spc="-5" dirty="0">
                <a:latin typeface="Times New Roman" panose="02020603050405020304" pitchFamily="18" charset="0"/>
                <a:cs typeface="Times New Roman" panose="02020603050405020304" pitchFamily="18" charset="0"/>
              </a:rPr>
              <a:t>, </a:t>
            </a:r>
          </a:p>
          <a:p>
            <a:pPr fontAlgn="auto">
              <a:spcBef>
                <a:spcPts val="0"/>
              </a:spcBef>
              <a:spcAft>
                <a:spcPts val="0"/>
              </a:spcAft>
              <a:defRPr/>
            </a:pPr>
            <a:r>
              <a:rPr lang="en-IN" b="1" dirty="0">
                <a:latin typeface="Times New Roman" panose="02020603050405020304" pitchFamily="18" charset="0"/>
                <a:cs typeface="Times New Roman" panose="02020603050405020304" pitchFamily="18" charset="0"/>
              </a:rPr>
              <a:t>Assistant Professor,</a:t>
            </a:r>
          </a:p>
          <a:p>
            <a:pPr fontAlgn="auto">
              <a:spcBef>
                <a:spcPts val="0"/>
              </a:spcBef>
              <a:spcAft>
                <a:spcPts val="0"/>
              </a:spcAft>
              <a:defRPr/>
            </a:pPr>
            <a:r>
              <a:rPr lang="en-IN" b="1" dirty="0">
                <a:latin typeface="Times New Roman" panose="02020603050405020304" pitchFamily="18" charset="0"/>
                <a:cs typeface="Times New Roman" panose="02020603050405020304" pitchFamily="18" charset="0"/>
              </a:rPr>
              <a:t>Dept. of CSE.</a:t>
            </a:r>
          </a:p>
        </p:txBody>
      </p:sp>
      <p:sp>
        <p:nvSpPr>
          <p:cNvPr id="2" name="TextBox 1">
            <a:extLst>
              <a:ext uri="{FF2B5EF4-FFF2-40B4-BE49-F238E27FC236}">
                <a16:creationId xmlns:a16="http://schemas.microsoft.com/office/drawing/2014/main" id="{8B87674B-153A-F14C-3689-F91BE22FE701}"/>
              </a:ext>
            </a:extLst>
          </p:cNvPr>
          <p:cNvSpPr txBox="1"/>
          <p:nvPr/>
        </p:nvSpPr>
        <p:spPr>
          <a:xfrm>
            <a:off x="7259214" y="4625386"/>
            <a:ext cx="4932785" cy="1477328"/>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BY</a:t>
            </a:r>
          </a:p>
          <a:p>
            <a:r>
              <a:rPr lang="en-US" b="1" dirty="0">
                <a:latin typeface="Times New Roman" panose="02020603050405020304" pitchFamily="18" charset="0"/>
                <a:cs typeface="Times New Roman" panose="02020603050405020304" pitchFamily="18" charset="0"/>
              </a:rPr>
              <a:t>D.  </a:t>
            </a:r>
            <a:r>
              <a:rPr lang="en-US" b="1" dirty="0" err="1">
                <a:latin typeface="Times New Roman" panose="02020603050405020304" pitchFamily="18" charset="0"/>
                <a:cs typeface="Times New Roman" panose="02020603050405020304" pitchFamily="18" charset="0"/>
              </a:rPr>
              <a:t>Gnanpreeth</a:t>
            </a:r>
            <a:r>
              <a:rPr lang="en-US" b="1" dirty="0">
                <a:latin typeface="Times New Roman" panose="02020603050405020304" pitchFamily="18" charset="0"/>
                <a:cs typeface="Times New Roman" panose="02020603050405020304" pitchFamily="18" charset="0"/>
              </a:rPr>
              <a:t> Reddy             (228R1A05D9)</a:t>
            </a:r>
          </a:p>
          <a:p>
            <a:r>
              <a:rPr lang="en-US" b="1" dirty="0">
                <a:latin typeface="Times New Roman" panose="02020603050405020304" pitchFamily="18" charset="0"/>
                <a:cs typeface="Times New Roman" panose="02020603050405020304" pitchFamily="18" charset="0"/>
              </a:rPr>
              <a:t>G.  Srikanth                               (228R1A05E3)</a:t>
            </a:r>
          </a:p>
          <a:p>
            <a:r>
              <a:rPr lang="en-US" b="1" dirty="0">
                <a:latin typeface="Times New Roman" panose="02020603050405020304" pitchFamily="18" charset="0"/>
                <a:cs typeface="Times New Roman" panose="02020603050405020304" pitchFamily="18" charset="0"/>
              </a:rPr>
              <a:t>L. Aravind                                  (228R1A05F6)</a:t>
            </a:r>
          </a:p>
          <a:p>
            <a:r>
              <a:rPr lang="en-US" b="1" dirty="0">
                <a:latin typeface="Times New Roman" panose="02020603050405020304" pitchFamily="18" charset="0"/>
                <a:cs typeface="Times New Roman" panose="02020603050405020304" pitchFamily="18" charset="0"/>
              </a:rPr>
              <a:t>S.  Bhavya                                  (228R1A05H7)</a:t>
            </a:r>
            <a:endParaRPr lang="en-IN"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15C4762E-9332-71F6-515F-270477A42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066" y="300340"/>
            <a:ext cx="10717503" cy="9588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6">
            <a:extLst>
              <a:ext uri="{FF2B5EF4-FFF2-40B4-BE49-F238E27FC236}">
                <a16:creationId xmlns:a16="http://schemas.microsoft.com/office/drawing/2014/main" id="{232EAF09-DCB8-551F-E4BA-DEA3E4742175}"/>
              </a:ext>
            </a:extLst>
          </p:cNvPr>
          <p:cNvSpPr txBox="1">
            <a:spLocks noChangeArrowheads="1"/>
          </p:cNvSpPr>
          <p:nvPr/>
        </p:nvSpPr>
        <p:spPr bwMode="auto">
          <a:xfrm>
            <a:off x="3544044" y="5752460"/>
            <a:ext cx="26794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IN" altLang="en-US" b="1" dirty="0">
                <a:latin typeface="Times New Roman" panose="02020603050405020304" pitchFamily="18" charset="0"/>
                <a:cs typeface="Times New Roman" panose="02020603050405020304" pitchFamily="18" charset="0"/>
              </a:rPr>
              <a:t>    Batch No: C9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CED3FE-58BF-48DE-D2C5-FCD197A42997}"/>
              </a:ext>
            </a:extLst>
          </p:cNvPr>
          <p:cNvSpPr txBox="1"/>
          <p:nvPr/>
        </p:nvSpPr>
        <p:spPr>
          <a:xfrm>
            <a:off x="3330627" y="239712"/>
            <a:ext cx="5530745" cy="707886"/>
          </a:xfrm>
          <a:prstGeom prst="rect">
            <a:avLst/>
          </a:prstGeom>
          <a:noFill/>
        </p:spPr>
        <p:txBody>
          <a:bodyPr wrap="none">
            <a:spAutoFit/>
          </a:bodyPr>
          <a:lstStyle/>
          <a:p>
            <a:pPr algn="ctr" fontAlgn="auto">
              <a:spcBef>
                <a:spcPts val="0"/>
              </a:spcBef>
              <a:spcAft>
                <a:spcPts val="0"/>
              </a:spcAft>
              <a:defRPr/>
            </a:pPr>
            <a:r>
              <a:rPr lang="en-IN" sz="4000" b="1" spc="-10" dirty="0">
                <a:latin typeface="Times New Roman"/>
                <a:cs typeface="Times New Roman"/>
              </a:rPr>
              <a:t>TABL</a:t>
            </a:r>
            <a:r>
              <a:rPr lang="en-IN" sz="4000" b="1" dirty="0">
                <a:latin typeface="Times New Roman"/>
                <a:cs typeface="Times New Roman"/>
              </a:rPr>
              <a:t>E</a:t>
            </a:r>
            <a:r>
              <a:rPr lang="en-IN" sz="4000" b="1" spc="-10" dirty="0">
                <a:latin typeface="Times New Roman"/>
                <a:cs typeface="Times New Roman"/>
              </a:rPr>
              <a:t> </a:t>
            </a:r>
            <a:r>
              <a:rPr lang="en-IN" sz="4000" b="1" dirty="0">
                <a:latin typeface="Times New Roman"/>
                <a:cs typeface="Times New Roman"/>
              </a:rPr>
              <a:t>OF	</a:t>
            </a:r>
            <a:r>
              <a:rPr lang="en-IN" sz="4000" b="1" spc="-5" dirty="0">
                <a:latin typeface="Times New Roman"/>
                <a:cs typeface="Times New Roman"/>
              </a:rPr>
              <a:t>CONTENTS</a:t>
            </a:r>
            <a:endParaRPr lang="en-IN" sz="4000" b="1" dirty="0">
              <a:latin typeface="+mn-lt"/>
              <a:cs typeface="+mn-cs"/>
            </a:endParaRPr>
          </a:p>
        </p:txBody>
      </p:sp>
      <p:sp>
        <p:nvSpPr>
          <p:cNvPr id="5" name="TextBox 4">
            <a:extLst>
              <a:ext uri="{FF2B5EF4-FFF2-40B4-BE49-F238E27FC236}">
                <a16:creationId xmlns:a16="http://schemas.microsoft.com/office/drawing/2014/main" id="{AE43474A-D64B-195D-2400-FB3C49C07F0D}"/>
              </a:ext>
            </a:extLst>
          </p:cNvPr>
          <p:cNvSpPr txBox="1"/>
          <p:nvPr/>
        </p:nvSpPr>
        <p:spPr>
          <a:xfrm>
            <a:off x="1402378" y="1058928"/>
            <a:ext cx="5900738" cy="5078313"/>
          </a:xfrm>
          <a:prstGeom prst="rect">
            <a:avLst/>
          </a:prstGeom>
          <a:noFill/>
        </p:spPr>
        <p:txBody>
          <a:bodyPr>
            <a:spAutoFit/>
          </a:bodyPr>
          <a:lstStyle/>
          <a:p>
            <a:pPr marL="342900" indent="-342900" fontAlgn="auto">
              <a:spcBef>
                <a:spcPts val="0"/>
              </a:spcBef>
              <a:spcAft>
                <a:spcPts val="0"/>
              </a:spcAft>
              <a:buFont typeface="+mj-lt"/>
              <a:buAutoNum type="arabicParenR"/>
              <a:defRPr/>
            </a:pPr>
            <a:r>
              <a:rPr lang="en-IN" spc="-5" dirty="0">
                <a:latin typeface="Times New Roman" panose="02020603050405020304" pitchFamily="18" charset="0"/>
                <a:cs typeface="Times New Roman" panose="02020603050405020304" pitchFamily="18" charset="0"/>
              </a:rPr>
              <a:t>Abstract</a:t>
            </a:r>
          </a:p>
          <a:p>
            <a:pPr marL="342900" indent="-342900" fontAlgn="auto">
              <a:spcBef>
                <a:spcPts val="0"/>
              </a:spcBef>
              <a:spcAft>
                <a:spcPts val="0"/>
              </a:spcAft>
              <a:buFont typeface="+mj-lt"/>
              <a:buAutoNum type="arabicParenR"/>
              <a:defRPr/>
            </a:pPr>
            <a:r>
              <a:rPr lang="en-IN" spc="-5" dirty="0">
                <a:latin typeface="Times New Roman" panose="02020603050405020304" pitchFamily="18" charset="0"/>
                <a:cs typeface="Times New Roman" panose="02020603050405020304" pitchFamily="18" charset="0"/>
              </a:rPr>
              <a:t>Introduction</a:t>
            </a:r>
          </a:p>
          <a:p>
            <a:pPr marL="342900" indent="-342900" fontAlgn="auto">
              <a:spcBef>
                <a:spcPts val="0"/>
              </a:spcBef>
              <a:spcAft>
                <a:spcPts val="0"/>
              </a:spcAft>
              <a:buFont typeface="+mj-lt"/>
              <a:buAutoNum type="arabicParenR"/>
              <a:defRPr/>
            </a:pPr>
            <a:r>
              <a:rPr lang="en-IN" spc="-10" dirty="0">
                <a:latin typeface="Times New Roman" panose="02020603050405020304" pitchFamily="18" charset="0"/>
                <a:cs typeface="Times New Roman" panose="02020603050405020304" pitchFamily="18" charset="0"/>
              </a:rPr>
              <a:t>Literature Survey</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Existing System</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Existing System with limitations</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Proposed System</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Proposed System &amp; Advantages</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Software Requirements</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Hardware Requirements</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Techniques and algorithms used</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Data Flow Diagram</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UML Diagrams(Class Diagram, use case, sequence, etc)</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System Architecture</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System Testing</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Output Screens</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Conclusion</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Future Enhancements</a:t>
            </a:r>
          </a:p>
          <a:p>
            <a:pPr marL="342900" indent="-342900" fontAlgn="auto">
              <a:spcBef>
                <a:spcPts val="0"/>
              </a:spcBef>
              <a:spcAft>
                <a:spcPts val="0"/>
              </a:spcAft>
              <a:buFont typeface="+mj-lt"/>
              <a:buAutoNum type="arabicParenR"/>
              <a:defRPr/>
            </a:pPr>
            <a:r>
              <a:rPr lang="en-IN" dirty="0">
                <a:latin typeface="Times New Roman" panose="02020603050405020304" pitchFamily="18" charset="0"/>
                <a:cs typeface="Times New Roman" panose="02020603050405020304" pitchFamily="18" charset="0"/>
              </a:rPr>
              <a:t>Bibliography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1">
            <a:extLst>
              <a:ext uri="{FF2B5EF4-FFF2-40B4-BE49-F238E27FC236}">
                <a16:creationId xmlns:a16="http://schemas.microsoft.com/office/drawing/2014/main" id="{E532791E-EC95-DB26-EE45-840B960C2F44}"/>
              </a:ext>
            </a:extLst>
          </p:cNvPr>
          <p:cNvSpPr txBox="1">
            <a:spLocks noChangeArrowheads="1"/>
          </p:cNvSpPr>
          <p:nvPr/>
        </p:nvSpPr>
        <p:spPr bwMode="auto">
          <a:xfrm>
            <a:off x="4388180" y="802402"/>
            <a:ext cx="297549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4000" b="1" dirty="0">
                <a:latin typeface="Times New Roman" panose="02020603050405020304" pitchFamily="18" charset="0"/>
                <a:cs typeface="Times New Roman" panose="02020603050405020304" pitchFamily="18" charset="0"/>
              </a:rPr>
              <a:t>ABSTRACT</a:t>
            </a:r>
          </a:p>
        </p:txBody>
      </p:sp>
      <p:sp>
        <p:nvSpPr>
          <p:cNvPr id="7171" name="TextBox 2">
            <a:extLst>
              <a:ext uri="{FF2B5EF4-FFF2-40B4-BE49-F238E27FC236}">
                <a16:creationId xmlns:a16="http://schemas.microsoft.com/office/drawing/2014/main" id="{8EE0F958-204D-2C5F-0554-92DEF3091685}"/>
              </a:ext>
            </a:extLst>
          </p:cNvPr>
          <p:cNvSpPr txBox="1">
            <a:spLocks noChangeArrowheads="1"/>
          </p:cNvSpPr>
          <p:nvPr/>
        </p:nvSpPr>
        <p:spPr bwMode="auto">
          <a:xfrm>
            <a:off x="410547" y="1510288"/>
            <a:ext cx="11103429" cy="419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461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pPr>
            <a:r>
              <a:rPr lang="en-US" dirty="0">
                <a:latin typeface="Times New Roman" pitchFamily="18" charset="0"/>
                <a:cs typeface="Times New Roman" pitchFamily="18" charset="0"/>
              </a:rPr>
              <a:t>With the rapid growth of online platforms and digital events, users are often overwhelmed by the abundance of event choices. This has led to the need for intelligent recommendation systems that can filter and personalize event suggestions based on user-specific data. An Event Recommendation System is designed to analyze various inputs such as user preferences, historical behavior, location, social connections, and real-time context to provide relevant and engaging event recommendations.</a:t>
            </a:r>
          </a:p>
          <a:p>
            <a:pPr algn="just">
              <a:lnSpc>
                <a:spcPct val="150000"/>
              </a:lnSpc>
            </a:pPr>
            <a:r>
              <a:rPr lang="en-US" dirty="0">
                <a:latin typeface="Times New Roman" pitchFamily="18" charset="0"/>
                <a:cs typeface="Times New Roman" pitchFamily="18" charset="0"/>
              </a:rPr>
              <a:t>The proposed system combines collaborative filtering, content-based filtering, and hybrid recommendation strategies to improve accuracy and relevance. Collaborative filtering identifies user similarities and suggests events based on peer preferences, while content-based filtering focuses on matching events to individual user profiles. A hybrid approach merges these techniques to address limitations such as cold start and data sparsity problems.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0BE9A4-B7F6-391E-6390-A2EBE3AD0716}"/>
              </a:ext>
            </a:extLst>
          </p:cNvPr>
          <p:cNvSpPr txBox="1"/>
          <p:nvPr/>
        </p:nvSpPr>
        <p:spPr>
          <a:xfrm>
            <a:off x="4097934" y="751003"/>
            <a:ext cx="4259651" cy="707886"/>
          </a:xfrm>
          <a:prstGeom prst="rect">
            <a:avLst/>
          </a:prstGeom>
          <a:noFill/>
        </p:spPr>
        <p:txBody>
          <a:bodyPr wrap="square">
            <a:spAutoFit/>
          </a:bodyPr>
          <a:lstStyle/>
          <a:p>
            <a:pPr fontAlgn="auto">
              <a:spcBef>
                <a:spcPts val="0"/>
              </a:spcBef>
              <a:spcAft>
                <a:spcPts val="0"/>
              </a:spcAft>
              <a:defRPr/>
            </a:pPr>
            <a:r>
              <a:rPr lang="en-IN" sz="4000" b="1" spc="-5" dirty="0">
                <a:latin typeface="Times New Roman"/>
                <a:cs typeface="Times New Roman"/>
              </a:rPr>
              <a:t>INTRODUCTION</a:t>
            </a:r>
            <a:endParaRPr lang="en-IN" sz="4000" b="1" dirty="0">
              <a:latin typeface="+mn-lt"/>
              <a:cs typeface="+mn-cs"/>
            </a:endParaRPr>
          </a:p>
        </p:txBody>
      </p:sp>
      <p:sp>
        <p:nvSpPr>
          <p:cNvPr id="8195" name="TextBox 2">
            <a:extLst>
              <a:ext uri="{FF2B5EF4-FFF2-40B4-BE49-F238E27FC236}">
                <a16:creationId xmlns:a16="http://schemas.microsoft.com/office/drawing/2014/main" id="{F027695C-B1A4-F313-C1B0-9B8FA584063A}"/>
              </a:ext>
            </a:extLst>
          </p:cNvPr>
          <p:cNvSpPr txBox="1">
            <a:spLocks noChangeArrowheads="1"/>
          </p:cNvSpPr>
          <p:nvPr/>
        </p:nvSpPr>
        <p:spPr bwMode="auto">
          <a:xfrm>
            <a:off x="835021" y="1533932"/>
            <a:ext cx="10785475" cy="461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7663" indent="-336550" eaLnBrk="0" hangingPunct="0">
              <a:tabLst>
                <a:tab pos="347663" algn="l"/>
                <a:tab pos="349250" algn="l"/>
                <a:tab pos="67484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47663" algn="l"/>
                <a:tab pos="349250" algn="l"/>
                <a:tab pos="67484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47663" algn="l"/>
                <a:tab pos="349250" algn="l"/>
                <a:tab pos="67484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47663" algn="l"/>
                <a:tab pos="349250" algn="l"/>
                <a:tab pos="67484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47663" algn="l"/>
                <a:tab pos="349250" algn="l"/>
                <a:tab pos="6748463" algn="l"/>
              </a:tabLst>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tabLst>
                <a:tab pos="347663" algn="l"/>
                <a:tab pos="349250" algn="l"/>
                <a:tab pos="6748463" algn="l"/>
              </a:tabLs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tabLst>
                <a:tab pos="347663" algn="l"/>
                <a:tab pos="349250" algn="l"/>
                <a:tab pos="6748463" algn="l"/>
              </a:tabLs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tabLst>
                <a:tab pos="347663" algn="l"/>
                <a:tab pos="349250" algn="l"/>
                <a:tab pos="6748463" algn="l"/>
              </a:tabLs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tabLst>
                <a:tab pos="347663" algn="l"/>
                <a:tab pos="349250" algn="l"/>
                <a:tab pos="6748463" algn="l"/>
              </a:tabLst>
              <a:defRPr>
                <a:solidFill>
                  <a:schemeClr val="tx1"/>
                </a:solidFill>
                <a:latin typeface="Arial" panose="020B0604020202020204" pitchFamily="34" charset="0"/>
                <a:cs typeface="Arial" panose="020B0604020202020204" pitchFamily="34" charset="0"/>
              </a:defRPr>
            </a:lvl9pPr>
          </a:lstStyle>
          <a:p>
            <a:pPr marL="11113" indent="0" algn="just" eaLnBrk="1" hangingPunct="1">
              <a:lnSpc>
                <a:spcPct val="150000"/>
              </a:lnSpc>
              <a:spcBef>
                <a:spcPts val="100"/>
              </a:spcBef>
            </a:pPr>
            <a:r>
              <a:rPr lang="en-US" dirty="0">
                <a:latin typeface="Times New Roman" pitchFamily="18" charset="0"/>
                <a:cs typeface="Times New Roman" pitchFamily="18" charset="0"/>
              </a:rPr>
              <a:t>With the rapid growth of online platforms and digital events, users are often overwhelmed by the abundance of event choices. This has led to the need for intelligent recommendation systems that can filter and personalize event suggestions based on user-specific data. An Event Recommendation System is designed to analyze various inputs such as user preferences, historical behavior, location, social connections, and real-time context to provide relevant and engaging event recommendations.</a:t>
            </a:r>
          </a:p>
          <a:p>
            <a:pPr marL="11113" indent="0" algn="just" eaLnBrk="1" hangingPunct="1">
              <a:lnSpc>
                <a:spcPct val="150000"/>
              </a:lnSpc>
              <a:spcBef>
                <a:spcPts val="100"/>
              </a:spcBef>
            </a:pPr>
            <a:r>
              <a:rPr lang="en-US" dirty="0">
                <a:latin typeface="Times New Roman" pitchFamily="18" charset="0"/>
                <a:cs typeface="Times New Roman" pitchFamily="18" charset="0"/>
              </a:rPr>
              <a:t>The proposed system combines collaborative filtering, content-based filtering, and hybrid recommendation strategies to improve accuracy and relevance. Collaborative filtering identifies user similarities and suggests events based on peer preferences, while content-based filtering focuses on matching events to individual user profiles. A hybrid approach merges these techniques to address limitations such as cold start and data sparsity problems.</a:t>
            </a:r>
          </a:p>
          <a:p>
            <a:pPr marL="354013" indent="-342900" algn="just" eaLnBrk="1" hangingPunct="1">
              <a:lnSpc>
                <a:spcPct val="150000"/>
              </a:lnSpc>
              <a:spcBef>
                <a:spcPts val="100"/>
              </a:spcBef>
              <a:buFont typeface="Wingdings" panose="05000000000000000000" pitchFamily="2" charset="2"/>
              <a:buChar char="v"/>
            </a:pPr>
            <a:endParaRPr lang="en-US" dirty="0">
              <a:latin typeface="Times New Roman" pitchFamily="18" charset="0"/>
              <a:cs typeface="Times New Roman" pitchFamily="18" charset="0"/>
            </a:endParaRPr>
          </a:p>
          <a:p>
            <a:pPr marL="11113" indent="0" algn="just" eaLnBrk="1" hangingPunct="1">
              <a:lnSpc>
                <a:spcPct val="116000"/>
              </a:lnSpc>
              <a:spcBef>
                <a:spcPts val="100"/>
              </a:spcBef>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ADA446-560F-1C6D-F11A-1773C3429861}"/>
              </a:ext>
            </a:extLst>
          </p:cNvPr>
          <p:cNvSpPr txBox="1"/>
          <p:nvPr/>
        </p:nvSpPr>
        <p:spPr>
          <a:xfrm>
            <a:off x="3704107" y="106041"/>
            <a:ext cx="5188793" cy="646331"/>
          </a:xfrm>
          <a:prstGeom prst="rect">
            <a:avLst/>
          </a:prstGeom>
          <a:noFill/>
        </p:spPr>
        <p:txBody>
          <a:bodyPr wrap="none">
            <a:spAutoFit/>
          </a:bodyPr>
          <a:lstStyle/>
          <a:p>
            <a:pPr fontAlgn="auto">
              <a:spcBef>
                <a:spcPts val="0"/>
              </a:spcBef>
              <a:spcAft>
                <a:spcPts val="0"/>
              </a:spcAft>
              <a:defRPr/>
            </a:pPr>
            <a:r>
              <a:rPr lang="en-US" sz="3600" b="1" spc="-5" dirty="0">
                <a:latin typeface="Times New Roman" panose="02020603050405020304" pitchFamily="18" charset="0"/>
                <a:cs typeface="Times New Roman" panose="02020603050405020304" pitchFamily="18" charset="0"/>
              </a:rPr>
              <a:t>LITERATURE SURVEY</a:t>
            </a:r>
            <a:endParaRPr lang="en-IN" sz="3600" b="1"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7048105B-895B-7841-4F48-FCA9A418494F}"/>
              </a:ext>
            </a:extLst>
          </p:cNvPr>
          <p:cNvCxnSpPr>
            <a:cxnSpLocks/>
          </p:cNvCxnSpPr>
          <p:nvPr/>
        </p:nvCxnSpPr>
        <p:spPr>
          <a:xfrm>
            <a:off x="2268019" y="6659189"/>
            <a:ext cx="8060968" cy="0"/>
          </a:xfrm>
          <a:prstGeom prst="line">
            <a:avLst/>
          </a:prstGeom>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C7CB1DFA-F0C5-8C65-9874-85A8F06173E7}"/>
              </a:ext>
            </a:extLst>
          </p:cNvPr>
          <p:cNvPicPr>
            <a:picLocks noChangeAspect="1"/>
          </p:cNvPicPr>
          <p:nvPr/>
        </p:nvPicPr>
        <p:blipFill>
          <a:blip r:embed="rId2"/>
          <a:stretch>
            <a:fillRect/>
          </a:stretch>
        </p:blipFill>
        <p:spPr>
          <a:xfrm>
            <a:off x="2268019" y="752372"/>
            <a:ext cx="7710808" cy="53029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1">
            <a:extLst>
              <a:ext uri="{FF2B5EF4-FFF2-40B4-BE49-F238E27FC236}">
                <a16:creationId xmlns:a16="http://schemas.microsoft.com/office/drawing/2014/main" id="{0ABC6C52-DFFE-364F-0933-B3AFF5E0204C}"/>
              </a:ext>
            </a:extLst>
          </p:cNvPr>
          <p:cNvSpPr txBox="1">
            <a:spLocks noChangeArrowheads="1"/>
          </p:cNvSpPr>
          <p:nvPr/>
        </p:nvSpPr>
        <p:spPr bwMode="auto">
          <a:xfrm>
            <a:off x="3631221" y="590896"/>
            <a:ext cx="49295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4000" b="1" dirty="0">
                <a:latin typeface="Times New Roman" panose="02020603050405020304" pitchFamily="18" charset="0"/>
                <a:cs typeface="Times New Roman" panose="02020603050405020304" pitchFamily="18" charset="0"/>
              </a:rPr>
              <a:t>EXISTING SYSTEM</a:t>
            </a:r>
            <a:endParaRPr lang="en-IN" altLang="en-US" sz="4000" b="1" dirty="0">
              <a:latin typeface="Tw Cen MT" panose="020B0602020104020603" pitchFamily="34" charset="0"/>
            </a:endParaRPr>
          </a:p>
        </p:txBody>
      </p:sp>
      <p:sp>
        <p:nvSpPr>
          <p:cNvPr id="11267" name="TextBox 6">
            <a:extLst>
              <a:ext uri="{FF2B5EF4-FFF2-40B4-BE49-F238E27FC236}">
                <a16:creationId xmlns:a16="http://schemas.microsoft.com/office/drawing/2014/main" id="{58976381-1EDC-C422-6BF4-8E340097AEA0}"/>
              </a:ext>
            </a:extLst>
          </p:cNvPr>
          <p:cNvSpPr txBox="1">
            <a:spLocks noChangeArrowheads="1"/>
          </p:cNvSpPr>
          <p:nvPr/>
        </p:nvSpPr>
        <p:spPr bwMode="auto">
          <a:xfrm>
            <a:off x="996154" y="1667459"/>
            <a:ext cx="10199688" cy="4582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lgn="just">
              <a:lnSpc>
                <a:spcPct val="150000"/>
              </a:lnSpc>
              <a:spcAft>
                <a:spcPts val="1000"/>
              </a:spcAft>
              <a:buFont typeface="Wingdings" panose="05000000000000000000" pitchFamily="2" charset="2"/>
              <a:buChar char="v"/>
              <a:tabLst>
                <a:tab pos="457200" algn="l"/>
              </a:tabLst>
            </a:pPr>
            <a:r>
              <a:rPr lang="en-US" b="1">
                <a:latin typeface="Times New Roman" panose="02020603050405020304" pitchFamily="18" charset="0"/>
                <a:ea typeface="Times New Roman" panose="02020603050405020304" pitchFamily="18" charset="0"/>
              </a:rPr>
              <a:t>Content-Based </a:t>
            </a:r>
            <a:r>
              <a:rPr lang="en-US" b="1" dirty="0">
                <a:latin typeface="Times New Roman" panose="02020603050405020304" pitchFamily="18" charset="0"/>
                <a:ea typeface="Times New Roman" panose="02020603050405020304" pitchFamily="18" charset="0"/>
              </a:rPr>
              <a:t>Filtering  - </a:t>
            </a:r>
            <a:r>
              <a:rPr lang="en-US" dirty="0">
                <a:latin typeface="Times New Roman" panose="02020603050405020304" pitchFamily="18" charset="0"/>
                <a:ea typeface="Times New Roman" panose="02020603050405020304" pitchFamily="18" charset="0"/>
              </a:rPr>
              <a:t>These systems use event attributes (genre, location, time, etc.) and user profiles (interests, past activity) to match preferences.</a:t>
            </a:r>
          </a:p>
          <a:p>
            <a:pPr lvl="0" algn="just">
              <a:lnSpc>
                <a:spcPct val="150000"/>
              </a:lnSpc>
              <a:spcAft>
                <a:spcPts val="1000"/>
              </a:spcAft>
              <a:buFont typeface="Wingdings" panose="05000000000000000000" pitchFamily="2" charset="2"/>
              <a:buChar char="v"/>
              <a:tabLst>
                <a:tab pos="457200" algn="l"/>
              </a:tabLst>
            </a:pPr>
            <a:r>
              <a:rPr lang="en-US" b="1" dirty="0">
                <a:latin typeface="Times New Roman" pitchFamily="18" charset="0"/>
                <a:ea typeface="Times New Roman" panose="02020603050405020304" pitchFamily="18" charset="0"/>
                <a:cs typeface="Times New Roman" pitchFamily="18" charset="0"/>
              </a:rPr>
              <a:t>Tourism-Based Recommendation Systems </a:t>
            </a:r>
            <a:r>
              <a:rPr lang="en-US" dirty="0">
                <a:latin typeface="Times New Roman" pitchFamily="18" charset="0"/>
                <a:ea typeface="Times New Roman" panose="02020603050405020304" pitchFamily="18" charset="0"/>
                <a:cs typeface="Times New Roman" pitchFamily="18" charset="0"/>
              </a:rPr>
              <a:t>- Platforms like TripAdvisor and Expedia suggest destinations and attractions based on user reviews and general popularity, but they do not dynamically adjust recommendations based on real-time conditions.</a:t>
            </a:r>
          </a:p>
          <a:p>
            <a:pPr lvl="0" algn="just">
              <a:lnSpc>
                <a:spcPct val="150000"/>
              </a:lnSpc>
              <a:spcAft>
                <a:spcPts val="1000"/>
              </a:spcAft>
              <a:buFont typeface="Wingdings" panose="05000000000000000000" pitchFamily="2" charset="2"/>
              <a:buChar char="v"/>
              <a:tabLst>
                <a:tab pos="457200" algn="l"/>
              </a:tabLst>
            </a:pPr>
            <a:r>
              <a:rPr lang="en-US" b="1" dirty="0">
                <a:latin typeface="Times New Roman" pitchFamily="18" charset="0"/>
                <a:ea typeface="Times New Roman" panose="02020603050405020304" pitchFamily="18" charset="0"/>
                <a:cs typeface="Times New Roman" pitchFamily="18" charset="0"/>
              </a:rPr>
              <a:t>Collaborative Filtering-Based Systems </a:t>
            </a:r>
            <a:r>
              <a:rPr lang="en-US" dirty="0">
                <a:latin typeface="Times New Roman" pitchFamily="18" charset="0"/>
                <a:ea typeface="Times New Roman" panose="02020603050405020304" pitchFamily="18" charset="0"/>
                <a:cs typeface="Times New Roman" pitchFamily="18" charset="0"/>
              </a:rPr>
              <a:t>- Some applications use collaborative filtering (e.g., recommending places visited by similar users), but these systems often rely on historical data and lack real-time adaptability.</a:t>
            </a:r>
            <a:endParaRPr lang="en-IN" sz="1800" dirty="0">
              <a:effectLst/>
              <a:latin typeface="Times New Roman" pitchFamily="18" charset="0"/>
              <a:ea typeface="Times New Roman" panose="02020603050405020304" pitchFamily="18" charset="0"/>
              <a:cs typeface="Times New Roman" pitchFamily="18" charset="0"/>
            </a:endParaRPr>
          </a:p>
          <a:p>
            <a:pPr marL="0" indent="0" algn="just" eaLnBrk="1" hangingPunct="1">
              <a:lnSpc>
                <a:spcPct val="150000"/>
              </a:lnSpc>
            </a:pPr>
            <a:endParaRPr lang="en-US" altLang="en-US" dirty="0">
              <a:latin typeface="Times New Roman" panose="02020603050405020304" pitchFamily="18" charset="0"/>
              <a:ea typeface="SimSun" panose="02010600030101010101" pitchFamily="2" charset="-122"/>
            </a:endParaRPr>
          </a:p>
          <a:p>
            <a:pPr eaLnBrk="1" hangingPunct="1">
              <a:lnSpc>
                <a:spcPct val="150000"/>
              </a:lnSpc>
              <a:buFont typeface="Arial" panose="020B0604020202020204" pitchFamily="34" charset="0"/>
              <a:buChar char="•"/>
            </a:pPr>
            <a:endParaRPr lang="en-US" altLang="en-US" dirty="0">
              <a:latin typeface="Times New Roman" panose="02020603050405020304" pitchFamily="18" charset="0"/>
              <a:ea typeface="SimSun"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B6545-D737-5A02-5CA5-BEB9DED50E2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SYSTEM WITH LIMITATIONS</a:t>
            </a:r>
          </a:p>
        </p:txBody>
      </p:sp>
      <p:sp>
        <p:nvSpPr>
          <p:cNvPr id="3" name="Content Placeholder 2">
            <a:extLst>
              <a:ext uri="{FF2B5EF4-FFF2-40B4-BE49-F238E27FC236}">
                <a16:creationId xmlns:a16="http://schemas.microsoft.com/office/drawing/2014/main" id="{17C99893-3C06-4143-66EA-14680F5CBBF5}"/>
              </a:ext>
            </a:extLst>
          </p:cNvPr>
          <p:cNvSpPr>
            <a:spLocks noGrp="1"/>
          </p:cNvSpPr>
          <p:nvPr>
            <p:ph idx="1"/>
          </p:nvPr>
        </p:nvSpPr>
        <p:spPr/>
        <p:txBody>
          <a:bodyPr/>
          <a:lstStyle/>
          <a:p>
            <a:pPr algn="just">
              <a:buNone/>
            </a:pPr>
            <a:r>
              <a:rPr lang="en-US" b="1" dirty="0">
                <a:latin typeface="Times New Roman" panose="02020603050405020304" pitchFamily="18" charset="0"/>
                <a:cs typeface="Times New Roman" panose="02020603050405020304" pitchFamily="18" charset="0"/>
              </a:rPr>
              <a:t>1.Data Handling &amp; Persistence</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Only supports static CSV files.</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No live updates or admin panel to add/edit/delete events.</a:t>
            </a:r>
          </a:p>
          <a:p>
            <a:pPr algn="just">
              <a:buNone/>
            </a:pPr>
            <a:r>
              <a:rPr lang="en-US" b="1" dirty="0">
                <a:latin typeface="Times New Roman" panose="02020603050405020304" pitchFamily="18" charset="0"/>
                <a:cs typeface="Times New Roman" panose="02020603050405020304" pitchFamily="18" charset="0"/>
              </a:rPr>
              <a:t>2.Recommendation Logic</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Simple filtering and sorting — no machine learning, user behavior tracking, or collaborative filtering.</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All users see the same "Top 10" list, regardless of history or preferences</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9110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1">
            <a:extLst>
              <a:ext uri="{FF2B5EF4-FFF2-40B4-BE49-F238E27FC236}">
                <a16:creationId xmlns:a16="http://schemas.microsoft.com/office/drawing/2014/main" id="{EC89194D-D95C-0FD6-A11B-48D45FFF9313}"/>
              </a:ext>
            </a:extLst>
          </p:cNvPr>
          <p:cNvSpPr txBox="1">
            <a:spLocks noChangeArrowheads="1"/>
          </p:cNvSpPr>
          <p:nvPr/>
        </p:nvSpPr>
        <p:spPr bwMode="auto">
          <a:xfrm>
            <a:off x="3182239" y="890308"/>
            <a:ext cx="51976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4000" b="1" dirty="0">
                <a:latin typeface="Times New Roman" panose="02020603050405020304" pitchFamily="18" charset="0"/>
                <a:cs typeface="Times New Roman" panose="02020603050405020304" pitchFamily="18" charset="0"/>
              </a:rPr>
              <a:t>PROPOSED SYSTEM</a:t>
            </a:r>
          </a:p>
        </p:txBody>
      </p:sp>
      <p:sp>
        <p:nvSpPr>
          <p:cNvPr id="13315" name="TextBox 2">
            <a:extLst>
              <a:ext uri="{FF2B5EF4-FFF2-40B4-BE49-F238E27FC236}">
                <a16:creationId xmlns:a16="http://schemas.microsoft.com/office/drawing/2014/main" id="{9876333D-F260-E8FE-8C28-401C5262590A}"/>
              </a:ext>
            </a:extLst>
          </p:cNvPr>
          <p:cNvSpPr txBox="1">
            <a:spLocks noChangeArrowheads="1"/>
          </p:cNvSpPr>
          <p:nvPr/>
        </p:nvSpPr>
        <p:spPr bwMode="auto">
          <a:xfrm>
            <a:off x="819150" y="2128092"/>
            <a:ext cx="10520974" cy="2633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spcAft>
                <a:spcPts val="100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Personalized Event Recommendations  - </a:t>
            </a:r>
            <a:r>
              <a:rPr lang="en-US" dirty="0">
                <a:latin typeface="Times New Roman" panose="02020603050405020304" pitchFamily="18" charset="0"/>
                <a:cs typeface="Times New Roman" panose="02020603050405020304" pitchFamily="18" charset="0"/>
              </a:rPr>
              <a:t> based on user interests and popularity.</a:t>
            </a:r>
          </a:p>
          <a:p>
            <a:pPr algn="just">
              <a:lnSpc>
                <a:spcPct val="150000"/>
              </a:lnSpc>
              <a:spcAft>
                <a:spcPts val="100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User Authentication</a:t>
            </a:r>
            <a:r>
              <a:rPr lang="en-US" dirty="0">
                <a:latin typeface="Times New Roman" panose="02020603050405020304" pitchFamily="18" charset="0"/>
                <a:cs typeface="Times New Roman" panose="02020603050405020304" pitchFamily="18" charset="0"/>
              </a:rPr>
              <a:t> for saving preferences and managing profiles.</a:t>
            </a:r>
          </a:p>
          <a:p>
            <a:pPr algn="just">
              <a:lnSpc>
                <a:spcPct val="150000"/>
              </a:lnSpc>
              <a:spcAft>
                <a:spcPts val="100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Smart Filters &amp; Search</a:t>
            </a:r>
            <a:r>
              <a:rPr lang="en-US" dirty="0">
                <a:latin typeface="Times New Roman" panose="02020603050405020304" pitchFamily="18" charset="0"/>
                <a:cs typeface="Times New Roman" panose="02020603050405020304" pitchFamily="18" charset="0"/>
              </a:rPr>
              <a:t> for city, type, levels.</a:t>
            </a:r>
          </a:p>
          <a:p>
            <a:pPr algn="just">
              <a:lnSpc>
                <a:spcPct val="150000"/>
              </a:lnSpc>
              <a:spcAft>
                <a:spcPts val="100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Responsive UI Design</a:t>
            </a:r>
            <a:r>
              <a:rPr lang="en-US" dirty="0">
                <a:latin typeface="Times New Roman" panose="02020603050405020304" pitchFamily="18" charset="0"/>
                <a:cs typeface="Times New Roman" panose="02020603050405020304" pitchFamily="18" charset="0"/>
              </a:rPr>
              <a:t> compatible with both desktop and mobile devices.</a:t>
            </a:r>
          </a:p>
          <a:p>
            <a:pPr algn="just">
              <a:lnSpc>
                <a:spcPct val="150000"/>
              </a:lnSpc>
              <a:spcAft>
                <a:spcPts val="100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Admin Dashboard</a:t>
            </a:r>
            <a:r>
              <a:rPr lang="en-US" dirty="0">
                <a:latin typeface="Times New Roman" panose="02020603050405020304" pitchFamily="18" charset="0"/>
                <a:cs typeface="Times New Roman" panose="02020603050405020304" pitchFamily="18" charset="0"/>
              </a:rPr>
              <a:t> for event management and performance tracking.</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4">
            <a:extLst>
              <a:ext uri="{FF2B5EF4-FFF2-40B4-BE49-F238E27FC236}">
                <a16:creationId xmlns:a16="http://schemas.microsoft.com/office/drawing/2014/main" id="{75820EB7-896D-7AFC-FFCC-F40AF6A7309D}"/>
              </a:ext>
            </a:extLst>
          </p:cNvPr>
          <p:cNvSpPr txBox="1">
            <a:spLocks noChangeArrowheads="1"/>
          </p:cNvSpPr>
          <p:nvPr/>
        </p:nvSpPr>
        <p:spPr bwMode="auto">
          <a:xfrm>
            <a:off x="1400240" y="838223"/>
            <a:ext cx="102536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4000" b="1" dirty="0">
                <a:latin typeface="Times New Roman" panose="02020603050405020304" pitchFamily="18" charset="0"/>
                <a:cs typeface="Times New Roman" panose="02020603050405020304" pitchFamily="18" charset="0"/>
              </a:rPr>
              <a:t>PROPOSED SYSTEM &amp; ADVANTAGES</a:t>
            </a:r>
          </a:p>
        </p:txBody>
      </p:sp>
      <p:sp>
        <p:nvSpPr>
          <p:cNvPr id="3" name="TextBox 2">
            <a:extLst>
              <a:ext uri="{FF2B5EF4-FFF2-40B4-BE49-F238E27FC236}">
                <a16:creationId xmlns:a16="http://schemas.microsoft.com/office/drawing/2014/main" id="{2D700C0C-01FC-ED2F-67BB-E4856C18A88E}"/>
              </a:ext>
            </a:extLst>
          </p:cNvPr>
          <p:cNvSpPr txBox="1"/>
          <p:nvPr/>
        </p:nvSpPr>
        <p:spPr>
          <a:xfrm>
            <a:off x="1400240" y="2274791"/>
            <a:ext cx="10336150" cy="2116990"/>
          </a:xfrm>
          <a:prstGeom prst="rect">
            <a:avLst/>
          </a:prstGeom>
          <a:noFill/>
        </p:spPr>
        <p:txBody>
          <a:bodyPr wrap="square">
            <a:spAutoFit/>
          </a:bodyPr>
          <a:lstStyle/>
          <a:p>
            <a:pPr marL="285750" indent="-285750" algn="just" fontAlgn="auto">
              <a:lnSpc>
                <a:spcPct val="150000"/>
              </a:lnSpc>
              <a:spcBef>
                <a:spcPts val="0"/>
              </a:spcBef>
              <a:spcAft>
                <a:spcPts val="0"/>
              </a:spcAft>
              <a:buFont typeface="Wingdings" panose="05000000000000000000" pitchFamily="2" charset="2"/>
              <a:buChar char="v"/>
              <a:defRPr/>
            </a:pPr>
            <a:r>
              <a:rPr lang="en-US" b="1" dirty="0">
                <a:latin typeface="Times New Roman" panose="02020603050405020304" pitchFamily="18" charset="0"/>
                <a:cs typeface="Times New Roman" panose="02020603050405020304" pitchFamily="18" charset="0"/>
              </a:rPr>
              <a:t>Personalization</a:t>
            </a:r>
            <a:r>
              <a:rPr lang="en-US" dirty="0">
                <a:latin typeface="Times New Roman" panose="02020603050405020304" pitchFamily="18" charset="0"/>
                <a:cs typeface="Times New Roman" panose="02020603050405020304" pitchFamily="18" charset="0"/>
              </a:rPr>
              <a:t> – Tailors recommendations to user interests for better engagement.</a:t>
            </a:r>
          </a:p>
          <a:p>
            <a:pPr marL="285750" indent="-285750" algn="just" fontAlgn="auto">
              <a:lnSpc>
                <a:spcPct val="150000"/>
              </a:lnSpc>
              <a:spcBef>
                <a:spcPts val="0"/>
              </a:spcBef>
              <a:spcAft>
                <a:spcPts val="0"/>
              </a:spcAft>
              <a:buFont typeface="Wingdings" panose="05000000000000000000" pitchFamily="2" charset="2"/>
              <a:buChar char="v"/>
              <a:defRPr/>
            </a:pPr>
            <a:r>
              <a:rPr lang="en-US" b="1" dirty="0">
                <a:latin typeface="Times New Roman" panose="02020603050405020304" pitchFamily="18" charset="0"/>
                <a:cs typeface="Times New Roman" panose="02020603050405020304" pitchFamily="18" charset="0"/>
              </a:rPr>
              <a:t>Updates</a:t>
            </a:r>
            <a:r>
              <a:rPr lang="en-US" dirty="0">
                <a:latin typeface="Times New Roman" panose="02020603050405020304" pitchFamily="18" charset="0"/>
                <a:cs typeface="Times New Roman" panose="02020603050405020304" pitchFamily="18" charset="0"/>
              </a:rPr>
              <a:t> – Uses a  manual CSV updates.</a:t>
            </a:r>
          </a:p>
          <a:p>
            <a:pPr marL="285750" indent="-285750" algn="just" fontAlgn="auto">
              <a:lnSpc>
                <a:spcPct val="150000"/>
              </a:lnSpc>
              <a:spcBef>
                <a:spcPts val="0"/>
              </a:spcBef>
              <a:spcAft>
                <a:spcPts val="0"/>
              </a:spcAft>
              <a:buFont typeface="Wingdings" panose="05000000000000000000" pitchFamily="2" charset="2"/>
              <a:buChar char="v"/>
              <a:defRPr/>
            </a:pPr>
            <a:r>
              <a:rPr lang="en-US" b="1" dirty="0">
                <a:latin typeface="Times New Roman" panose="02020603050405020304" pitchFamily="18" charset="0"/>
                <a:cs typeface="Times New Roman" panose="02020603050405020304" pitchFamily="18" charset="0"/>
              </a:rPr>
              <a:t>Improved User Experience</a:t>
            </a:r>
            <a:r>
              <a:rPr lang="en-US" dirty="0">
                <a:latin typeface="Times New Roman" panose="02020603050405020304" pitchFamily="18" charset="0"/>
                <a:cs typeface="Times New Roman" panose="02020603050405020304" pitchFamily="18" charset="0"/>
              </a:rPr>
              <a:t> – Modern UI with mobile responsiveness and smart search.</a:t>
            </a:r>
          </a:p>
          <a:p>
            <a:pPr marL="285750" indent="-285750" algn="just" fontAlgn="auto">
              <a:lnSpc>
                <a:spcPct val="150000"/>
              </a:lnSpc>
              <a:spcBef>
                <a:spcPts val="0"/>
              </a:spcBef>
              <a:spcAft>
                <a:spcPts val="0"/>
              </a:spcAft>
              <a:buFont typeface="Wingdings" panose="05000000000000000000" pitchFamily="2" charset="2"/>
              <a:buChar char="v"/>
              <a:defRPr/>
            </a:pPr>
            <a:r>
              <a:rPr lang="en-US" b="1" dirty="0">
                <a:latin typeface="Times New Roman" panose="02020603050405020304" pitchFamily="18" charset="0"/>
                <a:cs typeface="Times New Roman" panose="02020603050405020304" pitchFamily="18" charset="0"/>
              </a:rPr>
              <a:t>Event Features</a:t>
            </a:r>
            <a:r>
              <a:rPr lang="en-US" dirty="0">
                <a:latin typeface="Times New Roman" panose="02020603050405020304" pitchFamily="18" charset="0"/>
                <a:cs typeface="Times New Roman" panose="02020603050405020304" pitchFamily="18" charset="0"/>
              </a:rPr>
              <a:t> – Enables preferences, city, and levels.</a:t>
            </a:r>
          </a:p>
          <a:p>
            <a:pPr marL="285750" indent="-285750" algn="just" fontAlgn="auto">
              <a:lnSpc>
                <a:spcPct val="150000"/>
              </a:lnSpc>
              <a:spcBef>
                <a:spcPts val="0"/>
              </a:spcBef>
              <a:spcAft>
                <a:spcPts val="0"/>
              </a:spcAft>
              <a:buFont typeface="Wingdings" panose="05000000000000000000" pitchFamily="2" charset="2"/>
              <a:buChar char="v"/>
              <a:defRPr/>
            </a:pPr>
            <a:r>
              <a:rPr lang="en-US" b="1" dirty="0">
                <a:latin typeface="Times New Roman" panose="02020603050405020304" pitchFamily="18" charset="0"/>
                <a:cs typeface="Times New Roman" panose="02020603050405020304" pitchFamily="18" charset="0"/>
              </a:rPr>
              <a:t>Cross-Platform Compatibility</a:t>
            </a:r>
            <a:r>
              <a:rPr lang="en-US" dirty="0">
                <a:latin typeface="Times New Roman" panose="02020603050405020304" pitchFamily="18" charset="0"/>
                <a:cs typeface="Times New Roman" panose="02020603050405020304" pitchFamily="18" charset="0"/>
              </a:rPr>
              <a:t> – Seamless access across desktops, tablets, and smartphones</a:t>
            </a:r>
            <a:r>
              <a:rPr 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1">
            <a:extLst>
              <a:ext uri="{FF2B5EF4-FFF2-40B4-BE49-F238E27FC236}">
                <a16:creationId xmlns:a16="http://schemas.microsoft.com/office/drawing/2014/main" id="{2566318E-C4BB-AF92-8A62-E24F2A0819BC}"/>
              </a:ext>
            </a:extLst>
          </p:cNvPr>
          <p:cNvSpPr txBox="1">
            <a:spLocks noChangeArrowheads="1"/>
          </p:cNvSpPr>
          <p:nvPr/>
        </p:nvSpPr>
        <p:spPr bwMode="auto">
          <a:xfrm>
            <a:off x="2164536" y="942880"/>
            <a:ext cx="76083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4000" b="1" dirty="0">
                <a:latin typeface="Times New Roman" panose="02020603050405020304" pitchFamily="18" charset="0"/>
                <a:cs typeface="Times New Roman" panose="02020603050405020304" pitchFamily="18" charset="0"/>
              </a:rPr>
              <a:t>SOFTWARE REQUIREMENTS</a:t>
            </a:r>
          </a:p>
        </p:txBody>
      </p:sp>
      <p:sp>
        <p:nvSpPr>
          <p:cNvPr id="15364" name="TextBox 7">
            <a:extLst>
              <a:ext uri="{FF2B5EF4-FFF2-40B4-BE49-F238E27FC236}">
                <a16:creationId xmlns:a16="http://schemas.microsoft.com/office/drawing/2014/main" id="{3CA8254C-0AE5-99F5-823F-2232C8260328}"/>
              </a:ext>
            </a:extLst>
          </p:cNvPr>
          <p:cNvSpPr txBox="1">
            <a:spLocks noChangeArrowheads="1"/>
          </p:cNvSpPr>
          <p:nvPr/>
        </p:nvSpPr>
        <p:spPr bwMode="auto">
          <a:xfrm>
            <a:off x="2590493" y="2011044"/>
            <a:ext cx="7011014" cy="170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lvl="0" indent="-285750" algn="just">
              <a:lnSpc>
                <a:spcPct val="150000"/>
              </a:lnSpc>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Programming Technology	            :  Python</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50000"/>
              </a:lnSpc>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Linux/Windows/macOS</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50000"/>
              </a:lnSpc>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Frontend Development		    :  CSS </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50000"/>
              </a:lnSpc>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8/10/11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a:extLst>
              <a:ext uri="{FF2B5EF4-FFF2-40B4-BE49-F238E27FC236}">
                <a16:creationId xmlns:a16="http://schemas.microsoft.com/office/drawing/2014/main" id="{1B732ED9-EB83-6D1C-45F0-BAB74C5AD61A}"/>
              </a:ext>
            </a:extLst>
          </p:cNvPr>
          <p:cNvSpPr txBox="1">
            <a:spLocks noChangeArrowheads="1"/>
          </p:cNvSpPr>
          <p:nvPr/>
        </p:nvSpPr>
        <p:spPr bwMode="auto">
          <a:xfrm>
            <a:off x="2525533" y="1119350"/>
            <a:ext cx="77583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4000" b="1" dirty="0">
                <a:latin typeface="Times New Roman" panose="02020603050405020304" pitchFamily="18" charset="0"/>
                <a:cs typeface="Times New Roman" panose="02020603050405020304" pitchFamily="18" charset="0"/>
              </a:rPr>
              <a:t>HARDWARE REQUIREMENTS</a:t>
            </a:r>
          </a:p>
        </p:txBody>
      </p:sp>
      <p:sp>
        <p:nvSpPr>
          <p:cNvPr id="16388" name="TextBox 3">
            <a:extLst>
              <a:ext uri="{FF2B5EF4-FFF2-40B4-BE49-F238E27FC236}">
                <a16:creationId xmlns:a16="http://schemas.microsoft.com/office/drawing/2014/main" id="{74C65B70-AC18-A62B-8AE3-D8A33E9C9FE0}"/>
              </a:ext>
            </a:extLst>
          </p:cNvPr>
          <p:cNvSpPr txBox="1">
            <a:spLocks noChangeArrowheads="1"/>
          </p:cNvSpPr>
          <p:nvPr/>
        </p:nvSpPr>
        <p:spPr bwMode="auto">
          <a:xfrm>
            <a:off x="2834950" y="2408303"/>
            <a:ext cx="6094445"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lvl="0" indent="-285750" algn="just">
              <a:lnSpc>
                <a:spcPct val="150000"/>
              </a:lnSpc>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Dual Core/I3/I5/I7</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50000"/>
              </a:lnSpc>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4GB(MIN) </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50000"/>
              </a:lnSpc>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  100GB or above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
            <a:extLst>
              <a:ext uri="{FF2B5EF4-FFF2-40B4-BE49-F238E27FC236}">
                <a16:creationId xmlns:a16="http://schemas.microsoft.com/office/drawing/2014/main" id="{004E4F10-DC3C-9026-5FD7-003EC707D00C}"/>
              </a:ext>
            </a:extLst>
          </p:cNvPr>
          <p:cNvSpPr txBox="1">
            <a:spLocks noChangeArrowheads="1"/>
          </p:cNvSpPr>
          <p:nvPr/>
        </p:nvSpPr>
        <p:spPr bwMode="auto">
          <a:xfrm>
            <a:off x="1268412" y="776271"/>
            <a:ext cx="101234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4000" b="1" dirty="0">
                <a:latin typeface="Times New Roman" panose="02020603050405020304" pitchFamily="18" charset="0"/>
                <a:cs typeface="Times New Roman" panose="02020603050405020304" pitchFamily="18" charset="0"/>
              </a:rPr>
              <a:t>TECHNIQUES AND ALGORITHMS USED</a:t>
            </a:r>
          </a:p>
        </p:txBody>
      </p:sp>
      <p:sp>
        <p:nvSpPr>
          <p:cNvPr id="20483" name="TextBox 3">
            <a:extLst>
              <a:ext uri="{FF2B5EF4-FFF2-40B4-BE49-F238E27FC236}">
                <a16:creationId xmlns:a16="http://schemas.microsoft.com/office/drawing/2014/main" id="{624E97A2-44B2-1E7E-3956-ACA27CFDCFDC}"/>
              </a:ext>
            </a:extLst>
          </p:cNvPr>
          <p:cNvSpPr txBox="1">
            <a:spLocks noChangeArrowheads="1"/>
          </p:cNvSpPr>
          <p:nvPr/>
        </p:nvSpPr>
        <p:spPr bwMode="auto">
          <a:xfrm>
            <a:off x="921883" y="1830903"/>
            <a:ext cx="10555287" cy="4385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pPr>
            <a:r>
              <a:rPr lang="en-US" sz="2000" b="1" dirty="0">
                <a:latin typeface="Times New Roman" panose="02020603050405020304" pitchFamily="18" charset="0"/>
                <a:cs typeface="Times New Roman" panose="02020603050405020304" pitchFamily="18" charset="0"/>
              </a:rPr>
              <a:t>Content-Based Filtering</a:t>
            </a:r>
          </a:p>
          <a:p>
            <a:pPr algn="just">
              <a:lnSpc>
                <a:spcPct val="150000"/>
              </a:lnSpc>
            </a:pPr>
            <a:r>
              <a:rPr lang="en-US" dirty="0">
                <a:latin typeface="Times New Roman" panose="02020603050405020304" pitchFamily="18" charset="0"/>
                <a:cs typeface="Times New Roman" panose="02020603050405020304" pitchFamily="18" charset="0"/>
              </a:rPr>
              <a:t>Content-based filtering recommends events by analyzing the features of each event, such as city, level, subtype, and popularity. The system builds a user profile based on past selections or preferences and compares it with the attributes of new events. For example, if a user often attends “Outdoor Music Festivals” in Mumbai, the system will prioritize similar events in future recommendations. This method is highly personalized but may lack diversity if user preferences don’t change.</a:t>
            </a:r>
          </a:p>
          <a:p>
            <a:pPr algn="just">
              <a:lnSpc>
                <a:spcPct val="150000"/>
              </a:lnSpc>
            </a:pPr>
            <a:endParaRPr lang="en-US" b="1" dirty="0">
              <a:latin typeface="Times New Roman" panose="02020603050405020304" pitchFamily="18" charset="0"/>
              <a:cs typeface="Times New Roman" panose="02020603050405020304" pitchFamily="18" charset="0"/>
            </a:endParaRPr>
          </a:p>
          <a:p>
            <a:pPr algn="just">
              <a:lnSpc>
                <a:spcPct val="150000"/>
              </a:lnSpc>
            </a:pPr>
            <a:br>
              <a:rPr lang="en-US" sz="24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A5693F-E89D-4DBF-D256-728B9A260C03}"/>
              </a:ext>
            </a:extLst>
          </p:cNvPr>
          <p:cNvSpPr txBox="1"/>
          <p:nvPr/>
        </p:nvSpPr>
        <p:spPr>
          <a:xfrm>
            <a:off x="789420" y="528320"/>
            <a:ext cx="10451841" cy="5536387"/>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CLUSTERING ALGORITHM (K-Means)</a:t>
            </a:r>
          </a:p>
          <a:p>
            <a:pPr algn="just">
              <a:lnSpc>
                <a:spcPct val="150000"/>
              </a:lnSpc>
            </a:pPr>
            <a:r>
              <a:rPr lang="en-US" dirty="0">
                <a:latin typeface="Times New Roman" panose="02020603050405020304" pitchFamily="18" charset="0"/>
                <a:cs typeface="Times New Roman" panose="02020603050405020304" pitchFamily="18" charset="0"/>
              </a:rPr>
              <a:t>Clustering algorithms group users or events with similar characteristics into clusters. In the context of this system, events can be clustered by attributes like popularity, location, or type. This enables personalized recommendations within the same cluster as the user’s interest. For instance, if a user frequently attends events in a specific cluster (e.g., urban music festivals), they can be recommended other events from that group. Clustering helps in audience segmentation and targeted marketing.</a:t>
            </a:r>
          </a:p>
          <a:p>
            <a:pPr algn="just">
              <a:lnSpc>
                <a:spcPct val="150000"/>
              </a:lnSpc>
            </a:pPr>
            <a:r>
              <a:rPr lang="en-US" sz="2000" b="1" dirty="0">
                <a:latin typeface="Times New Roman" panose="02020603050405020304" pitchFamily="18" charset="0"/>
                <a:cs typeface="Times New Roman" panose="02020603050405020304" pitchFamily="18" charset="0"/>
              </a:rPr>
              <a:t>Classification Algorithms</a:t>
            </a:r>
          </a:p>
          <a:p>
            <a:pPr algn="just">
              <a:lnSpc>
                <a:spcPct val="150000"/>
              </a:lnSpc>
            </a:pPr>
            <a:r>
              <a:rPr lang="en-US" dirty="0">
                <a:latin typeface="Times New Roman" panose="02020603050405020304" pitchFamily="18" charset="0"/>
                <a:cs typeface="Times New Roman" panose="02020603050405020304" pitchFamily="18" charset="0"/>
              </a:rPr>
              <a:t>Classification algorithms predict whether a user will be interested in or attend a particular event. By training models like Decision Trees, Logistic Regression, or Random Forests on historical data (e.g., attendance history, demographics), the system can make predictions for new events. This predictive capability helps refine recommendations beyond simple matching and can assist in personalized notifications or targeted promotion.</a:t>
            </a:r>
            <a:endParaRPr lang="en-US" b="1" dirty="0">
              <a:latin typeface="Times New Roman" panose="02020603050405020304" pitchFamily="18" charset="0"/>
              <a:cs typeface="Times New Roman" panose="02020603050405020304" pitchFamily="18" charset="0"/>
            </a:endParaRPr>
          </a:p>
          <a:p>
            <a:pPr algn="just">
              <a:lnSpc>
                <a:spcPct val="150000"/>
              </a:lnSpc>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2">
            <a:extLst>
              <a:ext uri="{FF2B5EF4-FFF2-40B4-BE49-F238E27FC236}">
                <a16:creationId xmlns:a16="http://schemas.microsoft.com/office/drawing/2014/main" id="{1E009BBB-510A-4DB9-18D6-9A255A18DCCD}"/>
              </a:ext>
            </a:extLst>
          </p:cNvPr>
          <p:cNvSpPr txBox="1">
            <a:spLocks noChangeArrowheads="1"/>
          </p:cNvSpPr>
          <p:nvPr/>
        </p:nvSpPr>
        <p:spPr bwMode="auto">
          <a:xfrm>
            <a:off x="1099146" y="499900"/>
            <a:ext cx="101917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IN" altLang="en-US"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D589563-3102-6B0A-B670-3556E7EC3D95}"/>
              </a:ext>
            </a:extLst>
          </p:cNvPr>
          <p:cNvPicPr>
            <a:picLocks noChangeAspect="1"/>
          </p:cNvPicPr>
          <p:nvPr/>
        </p:nvPicPr>
        <p:blipFill>
          <a:blip r:embed="rId2"/>
          <a:stretch>
            <a:fillRect/>
          </a:stretch>
        </p:blipFill>
        <p:spPr>
          <a:xfrm>
            <a:off x="3184832" y="2192694"/>
            <a:ext cx="7012261" cy="3946849"/>
          </a:xfrm>
          <a:prstGeom prst="rect">
            <a:avLst/>
          </a:prstGeom>
        </p:spPr>
      </p:pic>
      <p:sp>
        <p:nvSpPr>
          <p:cNvPr id="6" name="TextBox 2">
            <a:extLst>
              <a:ext uri="{FF2B5EF4-FFF2-40B4-BE49-F238E27FC236}">
                <a16:creationId xmlns:a16="http://schemas.microsoft.com/office/drawing/2014/main" id="{0152E224-D460-5C3A-43C8-1917A55672CE}"/>
              </a:ext>
            </a:extLst>
          </p:cNvPr>
          <p:cNvSpPr txBox="1">
            <a:spLocks noChangeArrowheads="1"/>
          </p:cNvSpPr>
          <p:nvPr/>
        </p:nvSpPr>
        <p:spPr bwMode="auto">
          <a:xfrm>
            <a:off x="4531139" y="1407852"/>
            <a:ext cx="28684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1" dirty="0">
                <a:latin typeface="Times New Roman" panose="02020603050405020304" pitchFamily="18" charset="0"/>
                <a:cs typeface="Times New Roman" panose="02020603050405020304" pitchFamily="18" charset="0"/>
              </a:rPr>
              <a:t>Class Diagram</a:t>
            </a:r>
            <a:endParaRPr lang="en-IN"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1">
            <a:extLst>
              <a:ext uri="{FF2B5EF4-FFF2-40B4-BE49-F238E27FC236}">
                <a16:creationId xmlns:a16="http://schemas.microsoft.com/office/drawing/2014/main" id="{43CA6140-2E10-FC83-7D1F-E37D24508106}"/>
              </a:ext>
            </a:extLst>
          </p:cNvPr>
          <p:cNvSpPr txBox="1">
            <a:spLocks noChangeArrowheads="1"/>
          </p:cNvSpPr>
          <p:nvPr/>
        </p:nvSpPr>
        <p:spPr bwMode="auto">
          <a:xfrm>
            <a:off x="1382895" y="394531"/>
            <a:ext cx="9809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1" dirty="0">
                <a:latin typeface="Times New Roman" panose="02020603050405020304" pitchFamily="18" charset="0"/>
                <a:ea typeface="TimesNewRomanPSMT"/>
                <a:cs typeface="TimesNewRomanPSMT"/>
              </a:rPr>
              <a:t>USE CASE DIAGRAM</a:t>
            </a:r>
            <a:endParaRPr lang="en-IN" altLang="en-US" sz="2000" dirty="0">
              <a:latin typeface="Tw Cen MT" panose="020B0602020104020603" pitchFamily="34" charset="0"/>
            </a:endParaRPr>
          </a:p>
        </p:txBody>
      </p:sp>
      <p:pic>
        <p:nvPicPr>
          <p:cNvPr id="4" name="Picture 3">
            <a:extLst>
              <a:ext uri="{FF2B5EF4-FFF2-40B4-BE49-F238E27FC236}">
                <a16:creationId xmlns:a16="http://schemas.microsoft.com/office/drawing/2014/main" id="{EEF46173-3D30-6BC9-78CD-508ECE5BB54F}"/>
              </a:ext>
            </a:extLst>
          </p:cNvPr>
          <p:cNvPicPr>
            <a:picLocks noChangeAspect="1"/>
          </p:cNvPicPr>
          <p:nvPr/>
        </p:nvPicPr>
        <p:blipFill>
          <a:blip r:embed="rId2"/>
          <a:stretch>
            <a:fillRect/>
          </a:stretch>
        </p:blipFill>
        <p:spPr>
          <a:xfrm>
            <a:off x="3715726" y="1138237"/>
            <a:ext cx="5143500" cy="45815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1">
            <a:extLst>
              <a:ext uri="{FF2B5EF4-FFF2-40B4-BE49-F238E27FC236}">
                <a16:creationId xmlns:a16="http://schemas.microsoft.com/office/drawing/2014/main" id="{E20E2828-8EA2-5A82-FB8F-F066E1CBCF5C}"/>
              </a:ext>
            </a:extLst>
          </p:cNvPr>
          <p:cNvSpPr txBox="1">
            <a:spLocks noChangeArrowheads="1"/>
          </p:cNvSpPr>
          <p:nvPr/>
        </p:nvSpPr>
        <p:spPr bwMode="auto">
          <a:xfrm>
            <a:off x="3660711" y="744350"/>
            <a:ext cx="60835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1" dirty="0">
                <a:latin typeface="Times New Roman" panose="02020603050405020304" pitchFamily="18" charset="0"/>
                <a:ea typeface="TimesNewRomanPSMT"/>
                <a:cs typeface="TimesNewRomanPSMT"/>
              </a:rPr>
              <a:t>ACTIVITY DIAGRAM</a:t>
            </a:r>
            <a:endParaRPr lang="en-IN" altLang="en-US" sz="2000" dirty="0">
              <a:latin typeface="Tw Cen MT" panose="020B0602020104020603" pitchFamily="34" charset="0"/>
            </a:endParaRPr>
          </a:p>
        </p:txBody>
      </p:sp>
      <p:pic>
        <p:nvPicPr>
          <p:cNvPr id="2" name="Picture 1">
            <a:extLst>
              <a:ext uri="{FF2B5EF4-FFF2-40B4-BE49-F238E27FC236}">
                <a16:creationId xmlns:a16="http://schemas.microsoft.com/office/drawing/2014/main" id="{80CD9E81-7A4B-66E9-0416-5B12534784C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20300" y="1975990"/>
            <a:ext cx="4564380" cy="413766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1">
            <a:extLst>
              <a:ext uri="{FF2B5EF4-FFF2-40B4-BE49-F238E27FC236}">
                <a16:creationId xmlns:a16="http://schemas.microsoft.com/office/drawing/2014/main" id="{9FDC7486-8BA3-26CA-2BE9-656263C228E0}"/>
              </a:ext>
            </a:extLst>
          </p:cNvPr>
          <p:cNvSpPr txBox="1">
            <a:spLocks noChangeArrowheads="1"/>
          </p:cNvSpPr>
          <p:nvPr/>
        </p:nvSpPr>
        <p:spPr bwMode="auto">
          <a:xfrm>
            <a:off x="3724604" y="583067"/>
            <a:ext cx="58236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2000" b="1" dirty="0">
                <a:latin typeface="Times New Roman" panose="02020603050405020304" pitchFamily="18" charset="0"/>
                <a:cs typeface="Times New Roman" panose="02020603050405020304" pitchFamily="18" charset="0"/>
              </a:rPr>
              <a:t>SEQUENCE DIAGRAM</a:t>
            </a:r>
          </a:p>
        </p:txBody>
      </p:sp>
      <p:pic>
        <p:nvPicPr>
          <p:cNvPr id="2" name="Picture 1">
            <a:extLst>
              <a:ext uri="{FF2B5EF4-FFF2-40B4-BE49-F238E27FC236}">
                <a16:creationId xmlns:a16="http://schemas.microsoft.com/office/drawing/2014/main" id="{7A36FEF8-487F-C334-3CE3-70E29611EB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27503" y="1228706"/>
            <a:ext cx="6120765" cy="485485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1">
            <a:extLst>
              <a:ext uri="{FF2B5EF4-FFF2-40B4-BE49-F238E27FC236}">
                <a16:creationId xmlns:a16="http://schemas.microsoft.com/office/drawing/2014/main" id="{7CFB2AEC-A0FC-55E9-16A0-07FA542A1F16}"/>
              </a:ext>
            </a:extLst>
          </p:cNvPr>
          <p:cNvSpPr txBox="1">
            <a:spLocks noChangeArrowheads="1"/>
          </p:cNvSpPr>
          <p:nvPr/>
        </p:nvSpPr>
        <p:spPr bwMode="auto">
          <a:xfrm>
            <a:off x="963563" y="675295"/>
            <a:ext cx="100409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IN" altLang="en-US" sz="2000" b="1" dirty="0">
                <a:latin typeface="Times New Roman" panose="02020603050405020304" pitchFamily="18" charset="0"/>
                <a:cs typeface="Times New Roman" panose="02020603050405020304" pitchFamily="18" charset="0"/>
              </a:rPr>
              <a:t>SYSTEM ARCHITECTURE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41C1EB4-5E47-58A8-0827-AF7156840FEF}"/>
                  </a:ext>
                </a:extLst>
              </p14:cNvPr>
              <p14:cNvContentPartPr/>
              <p14:nvPr/>
            </p14:nvContentPartPr>
            <p14:xfrm>
              <a:off x="4805368" y="2220590"/>
              <a:ext cx="360" cy="360"/>
            </p14:xfrm>
          </p:contentPart>
        </mc:Choice>
        <mc:Fallback xmlns="">
          <p:pic>
            <p:nvPicPr>
              <p:cNvPr id="2" name="Ink 1">
                <a:extLst>
                  <a:ext uri="{FF2B5EF4-FFF2-40B4-BE49-F238E27FC236}">
                    <a16:creationId xmlns:a16="http://schemas.microsoft.com/office/drawing/2014/main" id="{341C1EB4-5E47-58A8-0827-AF7156840FEF}"/>
                  </a:ext>
                </a:extLst>
              </p:cNvPr>
              <p:cNvPicPr/>
              <p:nvPr/>
            </p:nvPicPr>
            <p:blipFill>
              <a:blip r:embed="rId4"/>
              <a:stretch>
                <a:fillRect/>
              </a:stretch>
            </p:blipFill>
            <p:spPr>
              <a:xfrm>
                <a:off x="4742368" y="21575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B8B288F2-6E81-05BF-1489-4040C02D7C12}"/>
                  </a:ext>
                </a:extLst>
              </p14:cNvPr>
              <p14:cNvContentPartPr/>
              <p14:nvPr/>
            </p14:nvContentPartPr>
            <p14:xfrm>
              <a:off x="3615568" y="2687150"/>
              <a:ext cx="561960" cy="196560"/>
            </p14:xfrm>
          </p:contentPart>
        </mc:Choice>
        <mc:Fallback xmlns="">
          <p:pic>
            <p:nvPicPr>
              <p:cNvPr id="3" name="Ink 2">
                <a:extLst>
                  <a:ext uri="{FF2B5EF4-FFF2-40B4-BE49-F238E27FC236}">
                    <a16:creationId xmlns:a16="http://schemas.microsoft.com/office/drawing/2014/main" id="{B8B288F2-6E81-05BF-1489-4040C02D7C12}"/>
                  </a:ext>
                </a:extLst>
              </p:cNvPr>
              <p:cNvPicPr/>
              <p:nvPr/>
            </p:nvPicPr>
            <p:blipFill>
              <a:blip r:embed="rId6"/>
              <a:stretch>
                <a:fillRect/>
              </a:stretch>
            </p:blipFill>
            <p:spPr>
              <a:xfrm>
                <a:off x="3552928" y="2624150"/>
                <a:ext cx="687600" cy="322200"/>
              </a:xfrm>
              <a:prstGeom prst="rect">
                <a:avLst/>
              </a:prstGeom>
            </p:spPr>
          </p:pic>
        </mc:Fallback>
      </mc:AlternateContent>
      <p:pic>
        <p:nvPicPr>
          <p:cNvPr id="4" name="Picture 3">
            <a:extLst>
              <a:ext uri="{FF2B5EF4-FFF2-40B4-BE49-F238E27FC236}">
                <a16:creationId xmlns:a16="http://schemas.microsoft.com/office/drawing/2014/main" id="{C9856E55-12F9-FEF2-5B95-87E546AF659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110262" y="1342468"/>
            <a:ext cx="6120765" cy="47142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2F6F9-F208-FD82-A517-DF5083019EAC}"/>
              </a:ext>
            </a:extLst>
          </p:cNvPr>
          <p:cNvSpPr>
            <a:spLocks noGrp="1"/>
          </p:cNvSpPr>
          <p:nvPr>
            <p:ph type="title"/>
          </p:nvPr>
        </p:nvSpPr>
        <p:spPr>
          <a:xfrm>
            <a:off x="744895" y="823999"/>
            <a:ext cx="10515600" cy="752876"/>
          </a:xfrm>
        </p:spPr>
        <p:txBody>
          <a:bodyPr/>
          <a:lstStyle/>
          <a:p>
            <a:pPr algn="ctr"/>
            <a:r>
              <a:rPr lang="en-US" b="1" dirty="0">
                <a:latin typeface="Times New Roman" panose="02020603050405020304" pitchFamily="18" charset="0"/>
                <a:cs typeface="Times New Roman" panose="02020603050405020304" pitchFamily="18" charset="0"/>
              </a:rPr>
              <a:t>SYSTEM TESTING</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92318F3F-F89F-0665-FA1D-4FAFD8BEB3AA}"/>
              </a:ext>
            </a:extLst>
          </p:cNvPr>
          <p:cNvSpPr>
            <a:spLocks noGrp="1" noChangeArrowheads="1"/>
          </p:cNvSpPr>
          <p:nvPr>
            <p:ph idx="1"/>
          </p:nvPr>
        </p:nvSpPr>
        <p:spPr bwMode="auto">
          <a:xfrm>
            <a:off x="838201" y="2037070"/>
            <a:ext cx="10515598"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Testing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Verifies modules like </a:t>
            </a:r>
            <a:r>
              <a:rPr lang="en-US" altLang="en-US" sz="1800" dirty="0">
                <a:latin typeface="Times New Roman" panose="02020603050405020304" pitchFamily="18" charset="0"/>
                <a:cs typeface="Times New Roman" panose="02020603050405020304" pitchFamily="18" charset="0"/>
              </a:rPr>
              <a:t>event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filtering ensuring they work independently.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Unit Testing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Tests individual components (e.g., recommendation algorithm, user preference parser) to ensure each functions correctly.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Testing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Evaluates the entire </a:t>
            </a:r>
            <a:r>
              <a:rPr lang="en-US" altLang="en-US" sz="1800" dirty="0">
                <a:latin typeface="Times New Roman" panose="02020603050405020304" pitchFamily="18" charset="0"/>
                <a:cs typeface="Times New Roman" panose="02020603050405020304" pitchFamily="18" charset="0"/>
              </a:rPr>
              <a:t>event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recommendation system, ensuring end-to-end functionality, including input processing, recommendation generation, and output display.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Functional Testing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Checks if features like user queries, search filters, and personalized recommendations work as expected.</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Acceptance Testing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Validates the system with real users or stakeholders to confirm it meets business needs and delivers useful recommendations.</a:t>
            </a:r>
          </a:p>
        </p:txBody>
      </p:sp>
    </p:spTree>
    <p:extLst>
      <p:ext uri="{BB962C8B-B14F-4D97-AF65-F5344CB8AC3E}">
        <p14:creationId xmlns:p14="http://schemas.microsoft.com/office/powerpoint/2010/main" val="1944806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94687" y="2521764"/>
            <a:ext cx="5270417" cy="769441"/>
          </a:xfrm>
          <a:prstGeom prst="rect">
            <a:avLst/>
          </a:prstGeom>
          <a:noFill/>
        </p:spPr>
        <p:txBody>
          <a:bodyPr wrap="none" rtlCol="0">
            <a:spAutoFit/>
          </a:bodyPr>
          <a:lstStyle/>
          <a:p>
            <a:r>
              <a:rPr lang="en-US" sz="4400" b="1" dirty="0">
                <a:latin typeface="Times New Roman" pitchFamily="18" charset="0"/>
                <a:cs typeface="Times New Roman" pitchFamily="18" charset="0"/>
              </a:rPr>
              <a:t>O</a:t>
            </a:r>
            <a:r>
              <a:rPr lang="en-IN" sz="4400" b="1" dirty="0">
                <a:latin typeface="Times New Roman" pitchFamily="18" charset="0"/>
                <a:cs typeface="Times New Roman" pitchFamily="18" charset="0"/>
              </a:rPr>
              <a:t>UTPUT SCREENS</a:t>
            </a:r>
          </a:p>
        </p:txBody>
      </p:sp>
    </p:spTree>
    <p:extLst>
      <p:ext uri="{BB962C8B-B14F-4D97-AF65-F5344CB8AC3E}">
        <p14:creationId xmlns:p14="http://schemas.microsoft.com/office/powerpoint/2010/main" val="1665692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389" y="2585979"/>
            <a:ext cx="10515600" cy="1325563"/>
          </a:xfrm>
        </p:spPr>
        <p:txBody>
          <a:bodyPr/>
          <a:lstStyle/>
          <a:p>
            <a:pPr algn="ctr"/>
            <a:r>
              <a:rPr lang="en-IN" sz="1800" b="1" dirty="0">
                <a:latin typeface="Times New Roman" pitchFamily="18" charset="0"/>
                <a:cs typeface="Times New Roman" pitchFamily="18" charset="0"/>
              </a:rPr>
              <a:t>Figure </a:t>
            </a:r>
            <a:r>
              <a:rPr lang="en-IN" sz="1800" b="1" dirty="0" err="1">
                <a:latin typeface="Times New Roman" pitchFamily="18" charset="0"/>
                <a:cs typeface="Times New Roman" pitchFamily="18" charset="0"/>
              </a:rPr>
              <a:t>i</a:t>
            </a:r>
            <a:r>
              <a:rPr lang="en-IN" sz="1800" b="1" dirty="0">
                <a:latin typeface="Times New Roman" pitchFamily="18" charset="0"/>
                <a:cs typeface="Times New Roman" pitchFamily="18" charset="0"/>
              </a:rPr>
              <a:t> : </a:t>
            </a:r>
            <a:r>
              <a:rPr lang="en-IN" sz="1800" dirty="0">
                <a:latin typeface="Times New Roman" pitchFamily="18" charset="0"/>
                <a:cs typeface="Times New Roman" pitchFamily="18" charset="0"/>
              </a:rPr>
              <a:t>Main Page</a:t>
            </a:r>
          </a:p>
        </p:txBody>
      </p:sp>
      <p:sp>
        <p:nvSpPr>
          <p:cNvPr id="6" name="TextBox 5"/>
          <p:cNvSpPr txBox="1"/>
          <p:nvPr/>
        </p:nvSpPr>
        <p:spPr>
          <a:xfrm>
            <a:off x="5141489" y="6426437"/>
            <a:ext cx="2123338" cy="369332"/>
          </a:xfrm>
          <a:prstGeom prst="rect">
            <a:avLst/>
          </a:prstGeom>
          <a:noFill/>
        </p:spPr>
        <p:txBody>
          <a:bodyPr wrap="none" rtlCol="0">
            <a:spAutoFit/>
          </a:bodyPr>
          <a:lstStyle/>
          <a:p>
            <a:pPr algn="ctr"/>
            <a:r>
              <a:rPr lang="en-IN" b="1" dirty="0">
                <a:latin typeface="Times New Roman" pitchFamily="18" charset="0"/>
                <a:cs typeface="Times New Roman" pitchFamily="18" charset="0"/>
              </a:rPr>
              <a:t>Figure </a:t>
            </a:r>
            <a:r>
              <a:rPr lang="en-IN" b="1" dirty="0" err="1">
                <a:latin typeface="Times New Roman" pitchFamily="18" charset="0"/>
                <a:cs typeface="Times New Roman" pitchFamily="18" charset="0"/>
              </a:rPr>
              <a:t>i</a:t>
            </a:r>
            <a:r>
              <a:rPr lang="en-IN" b="1" dirty="0">
                <a:latin typeface="Times New Roman" pitchFamily="18" charset="0"/>
                <a:cs typeface="Times New Roman" pitchFamily="18" charset="0"/>
              </a:rPr>
              <a:t> :Main</a:t>
            </a:r>
            <a:r>
              <a:rPr lang="en-IN" dirty="0">
                <a:latin typeface="Times New Roman" pitchFamily="18" charset="0"/>
                <a:cs typeface="Times New Roman" pitchFamily="18" charset="0"/>
              </a:rPr>
              <a:t> Page</a:t>
            </a:r>
            <a:endParaRPr lang="en-IN" dirty="0"/>
          </a:p>
        </p:txBody>
      </p:sp>
      <p:pic>
        <p:nvPicPr>
          <p:cNvPr id="15" name="Content Placeholder 14">
            <a:extLst>
              <a:ext uri="{FF2B5EF4-FFF2-40B4-BE49-F238E27FC236}">
                <a16:creationId xmlns:a16="http://schemas.microsoft.com/office/drawing/2014/main" id="{8A5A857C-A19A-E500-0049-604CDCB54EA9}"/>
              </a:ext>
            </a:extLst>
          </p:cNvPr>
          <p:cNvPicPr>
            <a:picLocks noGrp="1" noChangeAspect="1"/>
          </p:cNvPicPr>
          <p:nvPr>
            <p:ph idx="1"/>
          </p:nvPr>
        </p:nvPicPr>
        <p:blipFill>
          <a:blip r:embed="rId2"/>
          <a:stretch>
            <a:fillRect/>
          </a:stretch>
        </p:blipFill>
        <p:spPr>
          <a:xfrm>
            <a:off x="0" y="0"/>
            <a:ext cx="12192000" cy="6156960"/>
          </a:xfrm>
        </p:spPr>
      </p:pic>
    </p:spTree>
    <p:extLst>
      <p:ext uri="{BB962C8B-B14F-4D97-AF65-F5344CB8AC3E}">
        <p14:creationId xmlns:p14="http://schemas.microsoft.com/office/powerpoint/2010/main" val="3607013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09774" y="6488668"/>
            <a:ext cx="2604239" cy="369332"/>
          </a:xfrm>
          <a:prstGeom prst="rect">
            <a:avLst/>
          </a:prstGeom>
          <a:noFill/>
        </p:spPr>
        <p:txBody>
          <a:bodyPr wrap="none" rtlCol="0">
            <a:spAutoFit/>
          </a:bodyPr>
          <a:lstStyle/>
          <a:p>
            <a:pPr algn="ctr"/>
            <a:r>
              <a:rPr lang="en-IN" b="1" dirty="0">
                <a:latin typeface="Times New Roman" pitchFamily="18" charset="0"/>
                <a:cs typeface="Times New Roman" pitchFamily="18" charset="0"/>
              </a:rPr>
              <a:t>Figure ii : Concerts </a:t>
            </a:r>
            <a:r>
              <a:rPr lang="en-IN" dirty="0">
                <a:latin typeface="Times New Roman" pitchFamily="18" charset="0"/>
                <a:cs typeface="Times New Roman" pitchFamily="18" charset="0"/>
              </a:rPr>
              <a:t>Page</a:t>
            </a:r>
            <a:endParaRPr lang="en-IN" dirty="0"/>
          </a:p>
        </p:txBody>
      </p:sp>
      <p:pic>
        <p:nvPicPr>
          <p:cNvPr id="7" name="Picture 6">
            <a:extLst>
              <a:ext uri="{FF2B5EF4-FFF2-40B4-BE49-F238E27FC236}">
                <a16:creationId xmlns:a16="http://schemas.microsoft.com/office/drawing/2014/main" id="{CD5128C5-F4BC-722F-9B36-34437CA3BF26}"/>
              </a:ext>
            </a:extLst>
          </p:cNvPr>
          <p:cNvPicPr>
            <a:picLocks noChangeAspect="1"/>
          </p:cNvPicPr>
          <p:nvPr/>
        </p:nvPicPr>
        <p:blipFill>
          <a:blip r:embed="rId2"/>
          <a:stretch>
            <a:fillRect/>
          </a:stretch>
        </p:blipFill>
        <p:spPr>
          <a:xfrm>
            <a:off x="0" y="0"/>
            <a:ext cx="12192000" cy="6136640"/>
          </a:xfrm>
          <a:prstGeom prst="rect">
            <a:avLst/>
          </a:prstGeom>
        </p:spPr>
      </p:pic>
    </p:spTree>
    <p:extLst>
      <p:ext uri="{BB962C8B-B14F-4D97-AF65-F5344CB8AC3E}">
        <p14:creationId xmlns:p14="http://schemas.microsoft.com/office/powerpoint/2010/main" val="2706743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59743" y="6433119"/>
            <a:ext cx="2424703" cy="369332"/>
          </a:xfrm>
          <a:prstGeom prst="rect">
            <a:avLst/>
          </a:prstGeom>
          <a:noFill/>
        </p:spPr>
        <p:txBody>
          <a:bodyPr wrap="none" rtlCol="0">
            <a:spAutoFit/>
          </a:bodyPr>
          <a:lstStyle/>
          <a:p>
            <a:pPr algn="ctr"/>
            <a:r>
              <a:rPr lang="en-IN" b="1" dirty="0">
                <a:latin typeface="Times New Roman" pitchFamily="18" charset="0"/>
                <a:cs typeface="Times New Roman" pitchFamily="18" charset="0"/>
              </a:rPr>
              <a:t>Figure iii : Sports</a:t>
            </a:r>
            <a:r>
              <a:rPr lang="en-IN" dirty="0">
                <a:latin typeface="Times New Roman" pitchFamily="18" charset="0"/>
                <a:cs typeface="Times New Roman" pitchFamily="18" charset="0"/>
              </a:rPr>
              <a:t> Page</a:t>
            </a:r>
            <a:endParaRPr lang="en-IN" dirty="0"/>
          </a:p>
        </p:txBody>
      </p:sp>
      <p:pic>
        <p:nvPicPr>
          <p:cNvPr id="7" name="Picture 6">
            <a:extLst>
              <a:ext uri="{FF2B5EF4-FFF2-40B4-BE49-F238E27FC236}">
                <a16:creationId xmlns:a16="http://schemas.microsoft.com/office/drawing/2014/main" id="{D7ACF783-30AA-21BE-83E6-ED38C225CAFD}"/>
              </a:ext>
            </a:extLst>
          </p:cNvPr>
          <p:cNvPicPr>
            <a:picLocks noChangeAspect="1"/>
          </p:cNvPicPr>
          <p:nvPr/>
        </p:nvPicPr>
        <p:blipFill>
          <a:blip r:embed="rId2"/>
          <a:stretch>
            <a:fillRect/>
          </a:stretch>
        </p:blipFill>
        <p:spPr>
          <a:xfrm>
            <a:off x="0" y="0"/>
            <a:ext cx="12192000" cy="6126480"/>
          </a:xfrm>
          <a:prstGeom prst="rect">
            <a:avLst/>
          </a:prstGeom>
        </p:spPr>
      </p:pic>
    </p:spTree>
    <p:extLst>
      <p:ext uri="{BB962C8B-B14F-4D97-AF65-F5344CB8AC3E}">
        <p14:creationId xmlns:p14="http://schemas.microsoft.com/office/powerpoint/2010/main" val="433633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764459" y="6384255"/>
            <a:ext cx="2655535" cy="369332"/>
          </a:xfrm>
          <a:prstGeom prst="rect">
            <a:avLst/>
          </a:prstGeom>
          <a:noFill/>
        </p:spPr>
        <p:txBody>
          <a:bodyPr wrap="none" rtlCol="0">
            <a:spAutoFit/>
          </a:bodyPr>
          <a:lstStyle/>
          <a:p>
            <a:pPr algn="ctr"/>
            <a:r>
              <a:rPr lang="en-IN" b="1" dirty="0">
                <a:latin typeface="Times New Roman" pitchFamily="18" charset="0"/>
                <a:cs typeface="Times New Roman" pitchFamily="18" charset="0"/>
              </a:rPr>
              <a:t>Figure iv : Festivals Page</a:t>
            </a:r>
            <a:endParaRPr lang="en-IN" dirty="0"/>
          </a:p>
        </p:txBody>
      </p:sp>
      <p:pic>
        <p:nvPicPr>
          <p:cNvPr id="7" name="Picture 6">
            <a:extLst>
              <a:ext uri="{FF2B5EF4-FFF2-40B4-BE49-F238E27FC236}">
                <a16:creationId xmlns:a16="http://schemas.microsoft.com/office/drawing/2014/main" id="{B6E7D756-5082-041A-5CBA-9CE6136E5844}"/>
              </a:ext>
            </a:extLst>
          </p:cNvPr>
          <p:cNvPicPr>
            <a:picLocks noChangeAspect="1"/>
          </p:cNvPicPr>
          <p:nvPr/>
        </p:nvPicPr>
        <p:blipFill>
          <a:blip r:embed="rId2"/>
          <a:stretch>
            <a:fillRect/>
          </a:stretch>
        </p:blipFill>
        <p:spPr>
          <a:xfrm>
            <a:off x="0" y="0"/>
            <a:ext cx="12192000" cy="6085840"/>
          </a:xfrm>
          <a:prstGeom prst="rect">
            <a:avLst/>
          </a:prstGeom>
        </p:spPr>
      </p:pic>
    </p:spTree>
    <p:extLst>
      <p:ext uri="{BB962C8B-B14F-4D97-AF65-F5344CB8AC3E}">
        <p14:creationId xmlns:p14="http://schemas.microsoft.com/office/powerpoint/2010/main" val="3526860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0430" y="6126163"/>
            <a:ext cx="9603275" cy="640397"/>
          </a:xfrm>
        </p:spPr>
        <p:txBody>
          <a:bodyPr/>
          <a:lstStyle/>
          <a:p>
            <a:pPr algn="ctr"/>
            <a:br>
              <a:rPr lang="en-IN" sz="1800" b="1" dirty="0">
                <a:latin typeface="Times New Roman" pitchFamily="18" charset="0"/>
                <a:cs typeface="Times New Roman" pitchFamily="18" charset="0"/>
              </a:rPr>
            </a:br>
            <a:r>
              <a:rPr lang="en-IN" sz="1800" b="1" dirty="0">
                <a:latin typeface="Times New Roman" pitchFamily="18" charset="0"/>
                <a:cs typeface="Times New Roman" pitchFamily="18" charset="0"/>
              </a:rPr>
              <a:t>Figure v : Contact page</a:t>
            </a:r>
            <a:endParaRPr lang="en-IN" sz="1800" dirty="0">
              <a:latin typeface="Times New Roman" pitchFamily="18" charset="0"/>
              <a:cs typeface="Times New Roman" pitchFamily="18" charset="0"/>
            </a:endParaRPr>
          </a:p>
        </p:txBody>
      </p:sp>
      <p:pic>
        <p:nvPicPr>
          <p:cNvPr id="7" name="Content Placeholder 6">
            <a:extLst>
              <a:ext uri="{FF2B5EF4-FFF2-40B4-BE49-F238E27FC236}">
                <a16:creationId xmlns:a16="http://schemas.microsoft.com/office/drawing/2014/main" id="{1748F2DA-C8DD-D3E5-680B-7BD465ECD339}"/>
              </a:ext>
            </a:extLst>
          </p:cNvPr>
          <p:cNvPicPr>
            <a:picLocks noGrp="1" noChangeAspect="1"/>
          </p:cNvPicPr>
          <p:nvPr>
            <p:ph idx="4294967295"/>
          </p:nvPr>
        </p:nvPicPr>
        <p:blipFill>
          <a:blip r:embed="rId2"/>
          <a:stretch>
            <a:fillRect/>
          </a:stretch>
        </p:blipFill>
        <p:spPr>
          <a:xfrm>
            <a:off x="0" y="0"/>
            <a:ext cx="12192000" cy="6126163"/>
          </a:xfrm>
        </p:spPr>
      </p:pic>
    </p:spTree>
    <p:extLst>
      <p:ext uri="{BB962C8B-B14F-4D97-AF65-F5344CB8AC3E}">
        <p14:creationId xmlns:p14="http://schemas.microsoft.com/office/powerpoint/2010/main" val="3429565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Box 1">
            <a:extLst>
              <a:ext uri="{FF2B5EF4-FFF2-40B4-BE49-F238E27FC236}">
                <a16:creationId xmlns:a16="http://schemas.microsoft.com/office/drawing/2014/main" id="{5939120C-C617-DF38-AAE8-0D7647661101}"/>
              </a:ext>
            </a:extLst>
          </p:cNvPr>
          <p:cNvSpPr txBox="1">
            <a:spLocks noChangeArrowheads="1"/>
          </p:cNvSpPr>
          <p:nvPr/>
        </p:nvSpPr>
        <p:spPr bwMode="auto">
          <a:xfrm>
            <a:off x="761681" y="0"/>
            <a:ext cx="99964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IN" altLang="en-US" sz="4000" b="1" dirty="0">
                <a:latin typeface="Times New Roman" panose="02020603050405020304" pitchFamily="18" charset="0"/>
                <a:cs typeface="Times New Roman" panose="02020603050405020304" pitchFamily="18" charset="0"/>
              </a:rPr>
              <a:t>CONCLUSION</a:t>
            </a:r>
          </a:p>
        </p:txBody>
      </p:sp>
      <p:sp>
        <p:nvSpPr>
          <p:cNvPr id="39939" name="TextBox 3">
            <a:extLst>
              <a:ext uri="{FF2B5EF4-FFF2-40B4-BE49-F238E27FC236}">
                <a16:creationId xmlns:a16="http://schemas.microsoft.com/office/drawing/2014/main" id="{8F1E589B-D32C-FB73-B8FE-D094FDDAFB1D}"/>
              </a:ext>
            </a:extLst>
          </p:cNvPr>
          <p:cNvSpPr txBox="1">
            <a:spLocks noChangeArrowheads="1"/>
          </p:cNvSpPr>
          <p:nvPr/>
        </p:nvSpPr>
        <p:spPr bwMode="auto">
          <a:xfrm>
            <a:off x="668971" y="754062"/>
            <a:ext cx="10181909" cy="5859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tabLst>
                <a:tab pos="390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90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90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90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903663" algn="l"/>
              </a:tabLst>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tabLst>
                <a:tab pos="3903663" algn="l"/>
              </a:tabLs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tabLst>
                <a:tab pos="3903663" algn="l"/>
              </a:tabLs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tabLst>
                <a:tab pos="3903663" algn="l"/>
              </a:tabLs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tabLst>
                <a:tab pos="3903663" algn="l"/>
              </a:tabLst>
              <a:defRPr>
                <a:solidFill>
                  <a:schemeClr val="tx1"/>
                </a:solidFill>
                <a:latin typeface="Arial" panose="020B0604020202020204" pitchFamily="34" charset="0"/>
                <a:cs typeface="Arial" panose="020B0604020202020204" pitchFamily="34" charset="0"/>
              </a:defRPr>
            </a:lvl9pPr>
          </a:lstStyle>
          <a:p>
            <a:pPr algn="just">
              <a:lnSpc>
                <a:spcPct val="150000"/>
              </a:lnSpc>
              <a:buNone/>
            </a:pPr>
            <a:r>
              <a:rPr lang="en-US" dirty="0">
                <a:latin typeface="Times New Roman" panose="02020603050405020304" pitchFamily="18" charset="0"/>
                <a:cs typeface="Times New Roman" panose="02020603050405020304" pitchFamily="18" charset="0"/>
              </a:rPr>
              <a:t>The Event Recommendation System is a user-friendly, dynamic web application built with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that successfully helps users discover and explore various events such as concerts, sports, and festivals. The platform provides a seamless experience by offering:</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intuitive homepage with category navigation</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Interactive filtering options for location, event level, and type</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visually appealing card-based layout that displays recommended events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Default trending recommendations for new users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clean and responsive contact page with support information</a:t>
            </a:r>
          </a:p>
          <a:p>
            <a:pPr algn="just">
              <a:lnSpc>
                <a:spcPct val="150000"/>
              </a:lnSpc>
              <a:buNone/>
            </a:pPr>
            <a:r>
              <a:rPr lang="en-US" dirty="0">
                <a:latin typeface="Times New Roman" panose="02020603050405020304" pitchFamily="18" charset="0"/>
                <a:cs typeface="Times New Roman" panose="02020603050405020304" pitchFamily="18" charset="0"/>
              </a:rPr>
              <a:t>Through system testing and validation, the application has proven to be functionally robust, delivering accurate recommendations based on user-selected filters. Its modular structure makes it easy to expand with new event categories or connect to live databases in the future.</a:t>
            </a:r>
          </a:p>
          <a:p>
            <a:pPr algn="just">
              <a:lnSpc>
                <a:spcPct val="150000"/>
              </a:lnSpc>
            </a:pPr>
            <a:r>
              <a:rPr lang="en-US" dirty="0">
                <a:latin typeface="Times New Roman" panose="02020603050405020304" pitchFamily="18" charset="0"/>
                <a:cs typeface="Times New Roman" panose="02020603050405020304" pitchFamily="18" charset="0"/>
              </a:rPr>
              <a:t>This project showcases how a simple yet powerful UI, backed by well-structured CSV data, can offer users a tailored and engaging way to explore public events.</a:t>
            </a:r>
          </a:p>
          <a:p>
            <a:pPr algn="just">
              <a:lnSpc>
                <a:spcPct val="150000"/>
              </a:lnSpc>
              <a:spcAft>
                <a:spcPts val="1000"/>
              </a:spcAft>
              <a:buFont typeface="Wingdings" panose="05000000000000000000" pitchFamily="2" charset="2"/>
              <a:buChar char="v"/>
            </a:pP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a:extLst>
              <a:ext uri="{FF2B5EF4-FFF2-40B4-BE49-F238E27FC236}">
                <a16:creationId xmlns:a16="http://schemas.microsoft.com/office/drawing/2014/main" id="{742F0072-BAC3-58D8-A4DC-DCA62FBBCC55}"/>
              </a:ext>
            </a:extLst>
          </p:cNvPr>
          <p:cNvSpPr txBox="1">
            <a:spLocks noChangeArrowheads="1"/>
          </p:cNvSpPr>
          <p:nvPr/>
        </p:nvSpPr>
        <p:spPr bwMode="auto">
          <a:xfrm>
            <a:off x="1208087" y="468572"/>
            <a:ext cx="100933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IN" altLang="en-US" sz="4000" b="1" dirty="0">
                <a:latin typeface="Times New Roman" panose="02020603050405020304" pitchFamily="18" charset="0"/>
                <a:cs typeface="Times New Roman" panose="02020603050405020304" pitchFamily="18" charset="0"/>
              </a:rPr>
              <a:t>FUTURE ENHANCEMENTS</a:t>
            </a:r>
          </a:p>
        </p:txBody>
      </p:sp>
      <p:sp>
        <p:nvSpPr>
          <p:cNvPr id="40963" name="TextBox 2">
            <a:extLst>
              <a:ext uri="{FF2B5EF4-FFF2-40B4-BE49-F238E27FC236}">
                <a16:creationId xmlns:a16="http://schemas.microsoft.com/office/drawing/2014/main" id="{98B4B6B9-5367-BDBB-E0EA-94A83792B11E}"/>
              </a:ext>
            </a:extLst>
          </p:cNvPr>
          <p:cNvSpPr txBox="1">
            <a:spLocks noChangeArrowheads="1"/>
          </p:cNvSpPr>
          <p:nvPr/>
        </p:nvSpPr>
        <p:spPr bwMode="auto">
          <a:xfrm>
            <a:off x="1555936" y="1400833"/>
            <a:ext cx="9080128" cy="460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390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90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90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90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903663" algn="l"/>
              </a:tabLst>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tabLst>
                <a:tab pos="3903663" algn="l"/>
              </a:tabLs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tabLst>
                <a:tab pos="3903663" algn="l"/>
              </a:tabLs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tabLst>
                <a:tab pos="3903663" algn="l"/>
              </a:tabLs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tabLst>
                <a:tab pos="3903663" algn="l"/>
              </a:tabLst>
              <a:defRPr>
                <a:solidFill>
                  <a:schemeClr val="tx1"/>
                </a:solidFill>
                <a:latin typeface="Arial" panose="020B0604020202020204" pitchFamily="34" charset="0"/>
                <a:cs typeface="Arial" panose="020B0604020202020204" pitchFamily="34" charset="0"/>
              </a:defRPr>
            </a:lvl9pPr>
          </a:lstStyle>
          <a:p>
            <a:pPr algn="just">
              <a:lnSpc>
                <a:spcPct val="150000"/>
              </a:lnSpc>
              <a:spcAft>
                <a:spcPts val="1000"/>
              </a:spcAf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IN" dirty="0">
                <a:latin typeface="Times New Roman" panose="02020603050405020304" pitchFamily="18" charset="0"/>
                <a:ea typeface="Times New Roman" panose="02020603050405020304" pitchFamily="18" charset="0"/>
                <a:cs typeface="Times New Roman" panose="02020603050405020304" pitchFamily="18" charset="0"/>
              </a:rPr>
              <a:t>event </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recommendation system has exciting potential for future improvements:</a:t>
            </a:r>
          </a:p>
          <a:p>
            <a:pPr marL="285750" indent="-285750" algn="just">
              <a:lnSpc>
                <a:spcPct val="150000"/>
              </a:lnSpc>
              <a:buFont typeface="Wingdings" panose="05000000000000000000" pitchFamily="2" charset="2"/>
              <a:buChar char="v"/>
            </a:pPr>
            <a:r>
              <a:rPr lang="en-US" b="1" dirty="0"/>
              <a:t>Integration with Live Event APIs</a:t>
            </a:r>
            <a:r>
              <a:rPr lang="en-US" dirty="0">
                <a:latin typeface="Times New Roman" panose="02020603050405020304" pitchFamily="18" charset="0"/>
                <a:cs typeface="Times New Roman" panose="02020603050405020304" pitchFamily="18" charset="0"/>
              </a:rPr>
              <a:t>: Connect to real-time event sources like Ticketmaster API, Eventbrite, or Meetup to fetch up-to-date events automatically instead of using static CSV files.</a:t>
            </a:r>
          </a:p>
          <a:p>
            <a:pPr marL="285750" indent="-285750" algn="just">
              <a:buFont typeface="Wingdings" panose="05000000000000000000" pitchFamily="2" charset="2"/>
              <a:buChar char="v"/>
            </a:pPr>
            <a:r>
              <a:rPr lang="en-US" b="1" dirty="0"/>
              <a:t>User Authentication and Personalization</a:t>
            </a:r>
          </a:p>
          <a:p>
            <a:pPr algn="just">
              <a:lnSpc>
                <a:spcPct val="150000"/>
              </a:lnSpc>
            </a:pPr>
            <a:r>
              <a:rPr lang="en-US" dirty="0">
                <a:latin typeface="Times New Roman" panose="02020603050405020304" pitchFamily="18" charset="0"/>
                <a:cs typeface="Times New Roman" panose="02020603050405020304" pitchFamily="18" charset="0"/>
              </a:rPr>
              <a:t>     Allow users to sign up and log in.</a:t>
            </a:r>
          </a:p>
          <a:p>
            <a:pPr algn="just">
              <a:lnSpc>
                <a:spcPct val="150000"/>
              </a:lnSpc>
            </a:pPr>
            <a:r>
              <a:rPr lang="en-US" dirty="0">
                <a:latin typeface="Times New Roman" panose="02020603050405020304" pitchFamily="18" charset="0"/>
                <a:cs typeface="Times New Roman" panose="02020603050405020304" pitchFamily="18" charset="0"/>
              </a:rPr>
              <a:t>    Save user preferences (e.g., favorite cities or event types).</a:t>
            </a:r>
          </a:p>
          <a:p>
            <a:pPr algn="just">
              <a:lnSpc>
                <a:spcPct val="150000"/>
              </a:lnSpc>
            </a:pPr>
            <a:r>
              <a:rPr lang="en-US" dirty="0">
                <a:latin typeface="Times New Roman" panose="02020603050405020304" pitchFamily="18" charset="0"/>
                <a:cs typeface="Times New Roman" panose="02020603050405020304" pitchFamily="18" charset="0"/>
              </a:rPr>
              <a:t>    Provide personalized recommendations based on past activity.</a:t>
            </a:r>
          </a:p>
          <a:p>
            <a:pPr marL="285750" indent="-285750" algn="just">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Search by Date and Time</a:t>
            </a:r>
          </a:p>
          <a:p>
            <a:pPr algn="just">
              <a:lnSpc>
                <a:spcPct val="150000"/>
              </a:lnSpc>
            </a:pPr>
            <a:r>
              <a:rPr lang="en-US" dirty="0">
                <a:latin typeface="Times New Roman" panose="02020603050405020304" pitchFamily="18" charset="0"/>
                <a:cs typeface="Times New Roman" panose="02020603050405020304" pitchFamily="18" charset="0"/>
              </a:rPr>
              <a:t>Include advanced filtering for event </a:t>
            </a:r>
            <a:r>
              <a:rPr lang="en-US" b="1" dirty="0">
                <a:latin typeface="Times New Roman" panose="02020603050405020304" pitchFamily="18" charset="0"/>
                <a:cs typeface="Times New Roman" panose="02020603050405020304" pitchFamily="18" charset="0"/>
              </a:rPr>
              <a:t>start/end dates</a:t>
            </a:r>
            <a:r>
              <a:rPr lang="en-US" dirty="0">
                <a:latin typeface="Times New Roman" panose="02020603050405020304" pitchFamily="18" charset="0"/>
                <a:cs typeface="Times New Roman" panose="02020603050405020304" pitchFamily="18" charset="0"/>
              </a:rPr>
              <a:t>, time ranges, and date pickers for more precise planning.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2E99D-E40A-988F-D82C-5E575FAD11B9}"/>
              </a:ext>
            </a:extLst>
          </p:cNvPr>
          <p:cNvSpPr>
            <a:spLocks noGrp="1"/>
          </p:cNvSpPr>
          <p:nvPr>
            <p:ph type="title"/>
          </p:nvPr>
        </p:nvSpPr>
        <p:spPr>
          <a:xfrm>
            <a:off x="1130270" y="858417"/>
            <a:ext cx="9603275" cy="699795"/>
          </a:xfrm>
        </p:spPr>
        <p:txBody>
          <a:bodyPr>
            <a:normAutofit/>
          </a:bodyPr>
          <a:lstStyle/>
          <a:p>
            <a:r>
              <a:rPr lang="en-US" sz="4000" dirty="0">
                <a:latin typeface="Times New Roman" panose="02020603050405020304" pitchFamily="18" charset="0"/>
                <a:cs typeface="Times New Roman" panose="02020603050405020304" pitchFamily="18" charset="0"/>
              </a:rPr>
              <a:t>                 BIBILIOGRAPHY</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CF66B0-4031-C392-0681-80182A7A1D4A}"/>
              </a:ext>
            </a:extLst>
          </p:cNvPr>
          <p:cNvSpPr>
            <a:spLocks noGrp="1"/>
          </p:cNvSpPr>
          <p:nvPr>
            <p:ph idx="1"/>
          </p:nvPr>
        </p:nvSpPr>
        <p:spPr>
          <a:xfrm>
            <a:off x="1130270" y="1894114"/>
            <a:ext cx="9603275" cy="4217437"/>
          </a:xfrm>
        </p:spPr>
        <p:txBody>
          <a:bodyPr>
            <a:normAutofit fontScale="92500"/>
          </a:bodyPr>
          <a:lstStyle/>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Documentation</a:t>
            </a:r>
          </a:p>
          <a:p>
            <a:pPr marL="0" indent="0" algn="just" eaLnBrk="0" fontAlgn="base" hangingPunct="0">
              <a:lnSpc>
                <a:spcPct val="150000"/>
              </a:lnSpc>
              <a:spcBef>
                <a:spcPct val="0"/>
              </a:spcBef>
              <a:spcAft>
                <a:spcPct val="0"/>
              </a:spcAft>
              <a:buClrTx/>
              <a:buSzTx/>
              <a:buNone/>
            </a:pP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 (n.d.). </a:t>
            </a:r>
            <a:r>
              <a:rPr kumimoji="0" lang="en-US" altLang="en-US" sz="22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Retrieved from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https://docs.streamlit.io/</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ClrTx/>
              <a:buSzTx/>
              <a:buNone/>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Xiong, L., et al. (2017). Temporal Collaborative Filtering with Graph Convolutional Neural Networks.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https://arxiv.org/pdf</a:t>
            </a: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3"/>
              </a:rPr>
              <a:t>/2010.06425</a:t>
            </a:r>
            <a:endPar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ClrTx/>
              <a:buSzTx/>
              <a:buNone/>
            </a:pPr>
            <a:r>
              <a:rPr lang="en-US" altLang="en-US" sz="2200">
                <a:latin typeface="Times New Roman" panose="02020603050405020304" pitchFamily="18" charset="0"/>
                <a:cs typeface="Times New Roman" panose="02020603050405020304" pitchFamily="18" charset="0"/>
              </a:rPr>
              <a:t>[</a:t>
            </a:r>
            <a:r>
              <a:rPr lang="en-US" altLang="en-US" sz="2200" dirty="0">
                <a:latin typeface="Times New Roman" panose="02020603050405020304" pitchFamily="18" charset="0"/>
                <a:cs typeface="Times New Roman" panose="02020603050405020304" pitchFamily="18" charset="0"/>
              </a:rPr>
              <a:t>3]</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Event Recommendation Concepts</a:t>
            </a:r>
          </a:p>
          <a:p>
            <a:pPr marL="0" indent="0" algn="just" eaLnBrk="0" fontAlgn="base" hangingPunct="0">
              <a:lnSpc>
                <a:spcPct val="150000"/>
              </a:lnSpc>
              <a:spcBef>
                <a:spcPct val="0"/>
              </a:spcBef>
              <a:spcAft>
                <a:spcPct val="0"/>
              </a:spcAft>
              <a:buClrTx/>
              <a:buSzTx/>
              <a:buNone/>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Ricci, F., Rokach, L., &amp; Shapira, B. (2015).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Recommender Systems Handbook</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Springer.</a:t>
            </a: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ClrTx/>
              <a:buSzTx/>
              <a:buNone/>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Pandas Library</a:t>
            </a:r>
          </a:p>
          <a:p>
            <a:pPr marL="0" indent="0" algn="just" eaLnBrk="0" fontAlgn="base" hangingPunct="0">
              <a:lnSpc>
                <a:spcPct val="150000"/>
              </a:lnSpc>
              <a:spcBef>
                <a:spcPct val="0"/>
              </a:spcBef>
              <a:spcAft>
                <a:spcPct val="0"/>
              </a:spcAft>
              <a:buClrTx/>
              <a:buSzTx/>
              <a:buNone/>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pandas development team. (2023).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 - Python Data Analysis Library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Retrieved from https://pandas.pydata.org/</a:t>
            </a:r>
          </a:p>
          <a:p>
            <a:pPr marL="0" indent="0" algn="just" eaLnBrk="0" fontAlgn="base" hangingPunct="0">
              <a:lnSpc>
                <a:spcPct val="150000"/>
              </a:lnSpc>
              <a:spcBef>
                <a:spcPct val="0"/>
              </a:spcBef>
              <a:spcAft>
                <a:spcPct val="0"/>
              </a:spcAft>
              <a:buClrTx/>
              <a:buSzTx/>
              <a:buNone/>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ClrTx/>
              <a:buSzTx/>
              <a:buNone/>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ClrTx/>
              <a:buSzTx/>
              <a:buNone/>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97278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A2C39E-3992-13A8-6680-3CC4C8B279F1}"/>
              </a:ext>
            </a:extLst>
          </p:cNvPr>
          <p:cNvSpPr txBox="1"/>
          <p:nvPr/>
        </p:nvSpPr>
        <p:spPr>
          <a:xfrm>
            <a:off x="4194242" y="2916092"/>
            <a:ext cx="3648269"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THANK YOU</a:t>
            </a:r>
            <a:endParaRPr lang="en-IN" sz="44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4C6BCC-A38B-4625-90E6-7D3BBA3909AE}">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s>
</ds:datastoreItem>
</file>

<file path=customXml/itemProps2.xml><?xml version="1.0" encoding="utf-8"?>
<ds:datastoreItem xmlns:ds="http://schemas.openxmlformats.org/officeDocument/2006/customXml" ds:itemID="{E096F0E7-E7B5-406E-8E94-F0043B2AC7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Gallery</Template>
  <TotalTime>4076</TotalTime>
  <Words>1544</Words>
  <Application>Microsoft Office PowerPoint</Application>
  <PresentationFormat>Widescreen</PresentationFormat>
  <Paragraphs>132</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Gallery</vt:lpstr>
      <vt:lpstr>PowerPoint Presentation</vt:lpstr>
      <vt:lpstr>PowerPoint Presentation</vt:lpstr>
      <vt:lpstr>PowerPoint Presentation</vt:lpstr>
      <vt:lpstr>PowerPoint Presentation</vt:lpstr>
      <vt:lpstr>PowerPoint Presentation</vt:lpstr>
      <vt:lpstr>PowerPoint Presentation</vt:lpstr>
      <vt:lpstr>EXISTING SYSTEM WITH LIMITATIONS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TESTING</vt:lpstr>
      <vt:lpstr>PowerPoint Presentation</vt:lpstr>
      <vt:lpstr>Figure i : Main Page</vt:lpstr>
      <vt:lpstr>PowerPoint Presentation</vt:lpstr>
      <vt:lpstr>PowerPoint Presentation</vt:lpstr>
      <vt:lpstr>PowerPoint Presentation</vt:lpstr>
      <vt:lpstr> Figure v : Contact page</vt:lpstr>
      <vt:lpstr>PowerPoint Presentation</vt:lpstr>
      <vt:lpstr>PowerPoint Presentation</vt:lpstr>
      <vt:lpstr>                 BIBILIOGRAPHY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 technology</dc:title>
  <dc:creator>Manasa Raghavaraju</dc:creator>
  <cp:lastModifiedBy>gugulothsrikanth726@gmail.com</cp:lastModifiedBy>
  <cp:revision>77</cp:revision>
  <dcterms:created xsi:type="dcterms:W3CDTF">2021-12-10T14:51:34Z</dcterms:created>
  <dcterms:modified xsi:type="dcterms:W3CDTF">2025-06-06T02:36:47Z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KeyPoints">
    <vt:lpwstr/>
  </property>
</Properties>
</file>